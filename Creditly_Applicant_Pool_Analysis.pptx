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5.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notesSlides/notesSlide6.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7.xml" ContentType="application/vnd.openxmlformats-officedocument.presentationml.notesSlide+xml"/>
  <Override PartName="/ppt/charts/chart13.xml" ContentType="application/vnd.openxmlformats-officedocument.drawingml.chart+xml"/>
  <Override PartName="/ppt/notesSlides/notesSlide8.xml" ContentType="application/vnd.openxmlformats-officedocument.presentationml.notesSlide+xml"/>
  <Override PartName="/ppt/charts/chart14.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6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2" d="100"/>
          <a:sy n="62" d="100"/>
        </p:scale>
        <p:origin x="92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Arial"/>
              </a:defRPr>
            </a:pPr>
            <a:r>
              <a:rPr lang="en-US" sz="1400" b="0" i="0" u="none" strike="noStrike" dirty="0">
                <a:solidFill>
                  <a:srgbClr val="1E2761"/>
                </a:solidFill>
                <a:latin typeface="Arial"/>
              </a:rPr>
              <a:t>Good vs. Bad Credit History (n = 902)</a:t>
            </a:r>
          </a:p>
        </c:rich>
      </c:tx>
      <c:overlay val="0"/>
    </c:title>
    <c:autoTitleDeleted val="0"/>
    <c:plotArea>
      <c:layout/>
      <c:doughnutChart>
        <c:varyColors val="1"/>
        <c:ser>
          <c:idx val="0"/>
          <c:order val="0"/>
          <c:tx>
            <c:strRef>
              <c:f>Sheet1!$B$1</c:f>
              <c:strCache>
                <c:ptCount val="1"/>
                <c:pt idx="0">
                  <c:v>Credit History</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extLst>
              <c:ext xmlns:c16="http://schemas.microsoft.com/office/drawing/2014/chart" uri="{C3380CC4-5D6E-409C-BE32-E72D297353CC}">
                <c16:uniqueId val="{00000001-2078-4B3E-8E16-0FE329A918F9}"/>
              </c:ext>
            </c:extLst>
          </c:dPt>
          <c:dPt>
            <c:idx val="1"/>
            <c:bubble3D val="0"/>
            <c:spPr>
              <a:solidFill>
                <a:srgbClr val="C0392B"/>
              </a:solidFill>
              <a:effectLst/>
            </c:spPr>
            <c:extLst>
              <c:ext xmlns:c16="http://schemas.microsoft.com/office/drawing/2014/chart" uri="{C3380CC4-5D6E-409C-BE32-E72D297353CC}">
                <c16:uniqueId val="{00000003-2078-4B3E-8E16-0FE329A918F9}"/>
              </c:ext>
            </c:extLst>
          </c:dPt>
          <c:dLbls>
            <c:dLbl>
              <c:idx val="0"/>
              <c:numFmt formatCode="0.0&quot;%&quot;"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078-4B3E-8E16-0FE329A918F9}"/>
                </c:ext>
              </c:extLst>
            </c:dLbl>
            <c:dLbl>
              <c:idx val="1"/>
              <c:numFmt formatCode="0.0&quot;%&quot;" sourceLinked="0"/>
              <c:spPr/>
              <c:txPr>
                <a:bodyPr/>
                <a:lstStyle/>
                <a:p>
                  <a:pPr>
                    <a:defRPr sz="13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078-4B3E-8E16-0FE329A918F9}"/>
                </c:ext>
              </c:extLst>
            </c:dLbl>
            <c:numFmt formatCode="0.0&quot;%&quot;"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Good Credit</c:v>
                </c:pt>
                <c:pt idx="1">
                  <c:v>Bad Credit</c:v>
                </c:pt>
              </c:strCache>
            </c:strRef>
          </c:cat>
          <c:val>
            <c:numRef>
              <c:f>Sheet1!$B$2:$B$3</c:f>
              <c:numCache>
                <c:formatCode>General</c:formatCode>
                <c:ptCount val="2"/>
                <c:pt idx="0">
                  <c:v>83.6</c:v>
                </c:pt>
                <c:pt idx="1">
                  <c:v>16.399999999999999</c:v>
                </c:pt>
              </c:numCache>
            </c:numRef>
          </c:val>
          <c:extLst>
            <c:ext xmlns:c16="http://schemas.microsoft.com/office/drawing/2014/chart" uri="{C3380CC4-5D6E-409C-BE32-E72D297353CC}">
              <c16:uniqueId val="{00000004-2078-4B3E-8E16-0FE329A918F9}"/>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layout>
        <c:manualLayout>
          <c:xMode val="edge"/>
          <c:yMode val="edge"/>
          <c:x val="0.28690387758134001"/>
          <c:y val="0.90982242771979072"/>
          <c:w val="0.49956750689182722"/>
          <c:h val="7.4027701479175562E-2"/>
        </c:manualLayout>
      </c:layout>
      <c:overlay val="0"/>
      <c:txPr>
        <a:bodyPr/>
        <a:lstStyle/>
        <a:p>
          <a:pPr>
            <a:defRPr sz="1400">
              <a:solidFill>
                <a:srgbClr val="1A1A2E"/>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Arial"/>
              </a:defRPr>
            </a:pPr>
            <a:r>
              <a:rPr lang="en-US" sz="1400" b="0" i="0" u="none" strike="noStrike">
                <a:solidFill>
                  <a:srgbClr val="1E2761"/>
                </a:solidFill>
                <a:latin typeface="Arial"/>
              </a:rPr>
              <a:t>Good-Credit Share vs. Marketing Benchmark</a:t>
            </a:r>
          </a:p>
        </c:rich>
      </c:tx>
      <c:overlay val="0"/>
    </c:title>
    <c:autoTitleDeleted val="0"/>
    <c:plotArea>
      <c:layout/>
      <c:barChart>
        <c:barDir val="bar"/>
        <c:grouping val="clustered"/>
        <c:varyColors val="0"/>
        <c:ser>
          <c:idx val="0"/>
          <c:order val="0"/>
          <c:tx>
            <c:strRef>
              <c:f>Sheet1!$B$1</c:f>
              <c:strCache>
                <c:ptCount val="1"/>
                <c:pt idx="0">
                  <c:v>Good Credit %</c:v>
                </c:pt>
              </c:strCache>
            </c:strRef>
          </c:tx>
          <c:spPr>
            <a:solidFill>
              <a:srgbClr val="1E2761"/>
            </a:solidFill>
            <a:effectLst/>
          </c:spPr>
          <c:invertIfNegative val="0"/>
          <c:dLbls>
            <c:numFmt formatCode="0.0&quot;%&quot;" sourceLinked="0"/>
            <c:spPr>
              <a:noFill/>
              <a:ln>
                <a:noFill/>
              </a:ln>
              <a:effectLst/>
            </c:spPr>
            <c:txPr>
              <a:bodyPr/>
              <a:lstStyle/>
              <a:p>
                <a:pPr>
                  <a:defRPr sz="1400" b="1"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Campaign Benchmark</c:v>
                </c:pt>
                <c:pt idx="1">
                  <c:v>Actual Applicant Pool</c:v>
                </c:pt>
              </c:strCache>
            </c:strRef>
          </c:cat>
          <c:val>
            <c:numRef>
              <c:f>Sheet1!$B$2:$B$3</c:f>
              <c:numCache>
                <c:formatCode>General</c:formatCode>
                <c:ptCount val="2"/>
                <c:pt idx="0">
                  <c:v>80</c:v>
                </c:pt>
                <c:pt idx="1">
                  <c:v>83.6</c:v>
                </c:pt>
              </c:numCache>
            </c:numRef>
          </c:val>
          <c:extLst>
            <c:ext xmlns:c16="http://schemas.microsoft.com/office/drawing/2014/chart" uri="{C3380CC4-5D6E-409C-BE32-E72D297353CC}">
              <c16:uniqueId val="{00000000-B975-4DB6-B094-3411797983B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1"/>
        <c:axPos val="b"/>
        <c:majorGridlines>
          <c:spPr>
            <a:ln w="12700" cap="flat">
              <a:solidFill>
                <a:srgbClr val="888888"/>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Gender (n = 981)</a:t>
            </a:r>
          </a:p>
        </c:rich>
      </c:tx>
      <c:overlay val="0"/>
    </c:title>
    <c:autoTitleDeleted val="0"/>
    <c:plotArea>
      <c:layout/>
      <c:barChart>
        <c:barDir val="col"/>
        <c:grouping val="clustered"/>
        <c:varyColors val="0"/>
        <c:ser>
          <c:idx val="0"/>
          <c:order val="0"/>
          <c:tx>
            <c:strRef>
              <c:f>Sheet1!$B$1</c:f>
              <c:strCache>
                <c:ptCount val="1"/>
                <c:pt idx="0">
                  <c:v>Gender (n = 981)</c:v>
                </c:pt>
              </c:strCache>
            </c:strRef>
          </c:tx>
          <c:spPr>
            <a:solidFill>
              <a:srgbClr val="8AA0D6"/>
            </a:solidFill>
            <a:effectLst/>
          </c:spPr>
          <c:invertIfNegative val="0"/>
          <c:dPt>
            <c:idx val="0"/>
            <c:invertIfNegative val="0"/>
            <c:bubble3D val="0"/>
            <c:spPr>
              <a:solidFill>
                <a:srgbClr val="8AA0D6"/>
              </a:solidFill>
              <a:effectLst/>
            </c:spPr>
            <c:extLst>
              <c:ext xmlns:c16="http://schemas.microsoft.com/office/drawing/2014/chart" uri="{C3380CC4-5D6E-409C-BE32-E72D297353CC}">
                <c16:uniqueId val="{00000001-5CE5-4436-80B9-FA20C49DD247}"/>
              </c:ext>
            </c:extLst>
          </c:dPt>
          <c:dPt>
            <c:idx val="1"/>
            <c:invertIfNegative val="0"/>
            <c:bubble3D val="0"/>
            <c:spPr>
              <a:solidFill>
                <a:srgbClr val="3A5FC4"/>
              </a:solidFill>
              <a:effectLst/>
            </c:spPr>
            <c:extLst>
              <c:ext xmlns:c16="http://schemas.microsoft.com/office/drawing/2014/chart" uri="{C3380CC4-5D6E-409C-BE32-E72D297353CC}">
                <c16:uniqueId val="{00000003-5CE5-4436-80B9-FA20C49DD247}"/>
              </c:ext>
            </c:extLst>
          </c:dPt>
          <c:dPt>
            <c:idx val="2"/>
            <c:invertIfNegative val="0"/>
            <c:bubble3D val="0"/>
            <c:spPr>
              <a:solidFill>
                <a:srgbClr val="94A3B8"/>
              </a:solidFill>
              <a:effectLst/>
            </c:spPr>
            <c:extLst>
              <c:ext xmlns:c16="http://schemas.microsoft.com/office/drawing/2014/chart" uri="{C3380CC4-5D6E-409C-BE32-E72D297353CC}">
                <c16:uniqueId val="{00000005-5CE5-4436-80B9-FA20C49DD247}"/>
              </c:ext>
            </c:extLst>
          </c:dPt>
          <c:dLbls>
            <c:numFmt formatCode="#,##0" sourceLinked="0"/>
            <c:spPr>
              <a:noFill/>
              <a:ln>
                <a:noFill/>
              </a:ln>
              <a:effectLst/>
            </c:spPr>
            <c:txPr>
              <a:bodyPr/>
              <a:lstStyle/>
              <a:p>
                <a:pPr>
                  <a:defRPr sz="1200" b="1"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Male</c:v>
                </c:pt>
                <c:pt idx="1">
                  <c:v>Female</c:v>
                </c:pt>
                <c:pt idx="2">
                  <c:v>Unknown</c:v>
                </c:pt>
              </c:strCache>
            </c:strRef>
          </c:cat>
          <c:val>
            <c:numRef>
              <c:f>Sheet1!$B$2:$B$4</c:f>
              <c:numCache>
                <c:formatCode>General</c:formatCode>
                <c:ptCount val="3"/>
                <c:pt idx="0">
                  <c:v>775</c:v>
                </c:pt>
                <c:pt idx="1">
                  <c:v>182</c:v>
                </c:pt>
                <c:pt idx="2">
                  <c:v>24</c:v>
                </c:pt>
              </c:numCache>
            </c:numRef>
          </c:val>
          <c:extLst>
            <c:ext xmlns:c16="http://schemas.microsoft.com/office/drawing/2014/chart" uri="{C3380CC4-5D6E-409C-BE32-E72D297353CC}">
              <c16:uniqueId val="{00000006-5CE5-4436-80B9-FA20C49DD24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max val="968.75"/>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Education (n = 981)</a:t>
            </a:r>
          </a:p>
        </c:rich>
      </c:tx>
      <c:overlay val="0"/>
    </c:title>
    <c:autoTitleDeleted val="0"/>
    <c:plotArea>
      <c:layout/>
      <c:barChart>
        <c:barDir val="col"/>
        <c:grouping val="clustered"/>
        <c:varyColors val="0"/>
        <c:ser>
          <c:idx val="0"/>
          <c:order val="0"/>
          <c:tx>
            <c:strRef>
              <c:f>Sheet1!$B$1</c:f>
              <c:strCache>
                <c:ptCount val="1"/>
                <c:pt idx="0">
                  <c:v>Education (n = 981)</c:v>
                </c:pt>
              </c:strCache>
            </c:strRef>
          </c:tx>
          <c:spPr>
            <a:solidFill>
              <a:srgbClr val="1E2761"/>
            </a:solidFill>
            <a:effectLst/>
          </c:spPr>
          <c:invertIfNegative val="0"/>
          <c:dPt>
            <c:idx val="0"/>
            <c:invertIfNegative val="0"/>
            <c:bubble3D val="0"/>
            <c:spPr>
              <a:solidFill>
                <a:srgbClr val="1E2761"/>
              </a:solidFill>
              <a:effectLst/>
            </c:spPr>
            <c:extLst>
              <c:ext xmlns:c16="http://schemas.microsoft.com/office/drawing/2014/chart" uri="{C3380CC4-5D6E-409C-BE32-E72D297353CC}">
                <c16:uniqueId val="{00000001-A8E9-4D9A-8572-04AE2900B8BB}"/>
              </c:ext>
            </c:extLst>
          </c:dPt>
          <c:dPt>
            <c:idx val="1"/>
            <c:invertIfNegative val="0"/>
            <c:bubble3D val="0"/>
            <c:spPr>
              <a:solidFill>
                <a:srgbClr val="8AA0D6"/>
              </a:solidFill>
              <a:effectLst/>
            </c:spPr>
            <c:extLst>
              <c:ext xmlns:c16="http://schemas.microsoft.com/office/drawing/2014/chart" uri="{C3380CC4-5D6E-409C-BE32-E72D297353CC}">
                <c16:uniqueId val="{00000003-A8E9-4D9A-8572-04AE2900B8BB}"/>
              </c:ext>
            </c:extLst>
          </c:dPt>
          <c:dLbls>
            <c:numFmt formatCode="#,##0" sourceLinked="0"/>
            <c:spPr>
              <a:noFill/>
              <a:ln>
                <a:noFill/>
              </a:ln>
              <a:effectLst/>
            </c:spPr>
            <c:txPr>
              <a:bodyPr/>
              <a:lstStyle/>
              <a:p>
                <a:pPr>
                  <a:defRPr sz="1200" b="1"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Graduate</c:v>
                </c:pt>
                <c:pt idx="1">
                  <c:v>Not Graduate</c:v>
                </c:pt>
              </c:strCache>
            </c:strRef>
          </c:cat>
          <c:val>
            <c:numRef>
              <c:f>Sheet1!$B$2:$B$3</c:f>
              <c:numCache>
                <c:formatCode>General</c:formatCode>
                <c:ptCount val="2"/>
                <c:pt idx="0">
                  <c:v>763</c:v>
                </c:pt>
                <c:pt idx="1">
                  <c:v>218</c:v>
                </c:pt>
              </c:numCache>
            </c:numRef>
          </c:val>
          <c:extLst>
            <c:ext xmlns:c16="http://schemas.microsoft.com/office/drawing/2014/chart" uri="{C3380CC4-5D6E-409C-BE32-E72D297353CC}">
              <c16:uniqueId val="{00000004-A8E9-4D9A-8572-04AE2900B8B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max val="953.75"/>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Marital Status (n = 978)</a:t>
            </a:r>
          </a:p>
        </c:rich>
      </c:tx>
      <c:overlay val="0"/>
    </c:title>
    <c:autoTitleDeleted val="0"/>
    <c:plotArea>
      <c:layout/>
      <c:barChart>
        <c:barDir val="col"/>
        <c:grouping val="clustered"/>
        <c:varyColors val="0"/>
        <c:ser>
          <c:idx val="0"/>
          <c:order val="0"/>
          <c:tx>
            <c:strRef>
              <c:f>Sheet1!$B$1</c:f>
              <c:strCache>
                <c:ptCount val="1"/>
                <c:pt idx="0">
                  <c:v>Marital Status (n = 978)</c:v>
                </c:pt>
              </c:strCache>
            </c:strRef>
          </c:tx>
          <c:spPr>
            <a:solidFill>
              <a:srgbClr val="0F766E"/>
            </a:solidFill>
            <a:effectLst/>
          </c:spPr>
          <c:invertIfNegative val="0"/>
          <c:dPt>
            <c:idx val="0"/>
            <c:invertIfNegative val="0"/>
            <c:bubble3D val="0"/>
            <c:spPr>
              <a:solidFill>
                <a:srgbClr val="0F766E"/>
              </a:solidFill>
              <a:effectLst/>
            </c:spPr>
            <c:extLst>
              <c:ext xmlns:c16="http://schemas.microsoft.com/office/drawing/2014/chart" uri="{C3380CC4-5D6E-409C-BE32-E72D297353CC}">
                <c16:uniqueId val="{00000001-F309-46D3-ADD4-C52084786B12}"/>
              </c:ext>
            </c:extLst>
          </c:dPt>
          <c:dPt>
            <c:idx val="1"/>
            <c:invertIfNegative val="0"/>
            <c:bubble3D val="0"/>
            <c:spPr>
              <a:solidFill>
                <a:srgbClr val="9CC7C2"/>
              </a:solidFill>
              <a:effectLst/>
            </c:spPr>
            <c:extLst>
              <c:ext xmlns:c16="http://schemas.microsoft.com/office/drawing/2014/chart" uri="{C3380CC4-5D6E-409C-BE32-E72D297353CC}">
                <c16:uniqueId val="{00000003-F309-46D3-ADD4-C52084786B12}"/>
              </c:ext>
            </c:extLst>
          </c:dPt>
          <c:dLbls>
            <c:numFmt formatCode="#,##0" sourceLinked="0"/>
            <c:spPr>
              <a:noFill/>
              <a:ln>
                <a:noFill/>
              </a:ln>
              <a:effectLst/>
            </c:spPr>
            <c:txPr>
              <a:bodyPr/>
              <a:lstStyle/>
              <a:p>
                <a:pPr>
                  <a:defRPr sz="1200" b="1"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Married</c:v>
                </c:pt>
                <c:pt idx="1">
                  <c:v>Not Married</c:v>
                </c:pt>
              </c:strCache>
            </c:strRef>
          </c:cat>
          <c:val>
            <c:numRef>
              <c:f>Sheet1!$B$2:$B$3</c:f>
              <c:numCache>
                <c:formatCode>General</c:formatCode>
                <c:ptCount val="2"/>
                <c:pt idx="0">
                  <c:v>631</c:v>
                </c:pt>
                <c:pt idx="1">
                  <c:v>347</c:v>
                </c:pt>
              </c:numCache>
            </c:numRef>
          </c:val>
          <c:extLst>
            <c:ext xmlns:c16="http://schemas.microsoft.com/office/drawing/2014/chart" uri="{C3380CC4-5D6E-409C-BE32-E72D297353CC}">
              <c16:uniqueId val="{00000004-F309-46D3-ADD4-C52084786B12}"/>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max val="788.75"/>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Self-Employed (n = 926)</a:t>
            </a:r>
          </a:p>
        </c:rich>
      </c:tx>
      <c:overlay val="0"/>
    </c:title>
    <c:autoTitleDeleted val="0"/>
    <c:plotArea>
      <c:layout/>
      <c:barChart>
        <c:barDir val="col"/>
        <c:grouping val="clustered"/>
        <c:varyColors val="0"/>
        <c:ser>
          <c:idx val="0"/>
          <c:order val="0"/>
          <c:tx>
            <c:strRef>
              <c:f>Sheet1!$B$1</c:f>
              <c:strCache>
                <c:ptCount val="1"/>
                <c:pt idx="0">
                  <c:v>Self-Employed (n = 926)</c:v>
                </c:pt>
              </c:strCache>
            </c:strRef>
          </c:tx>
          <c:spPr>
            <a:solidFill>
              <a:srgbClr val="C0392B"/>
            </a:solidFill>
            <a:effectLst/>
          </c:spPr>
          <c:invertIfNegative val="0"/>
          <c:dPt>
            <c:idx val="0"/>
            <c:invertIfNegative val="0"/>
            <c:bubble3D val="0"/>
            <c:spPr>
              <a:solidFill>
                <a:srgbClr val="C0392B"/>
              </a:solidFill>
              <a:effectLst/>
            </c:spPr>
            <c:extLst>
              <c:ext xmlns:c16="http://schemas.microsoft.com/office/drawing/2014/chart" uri="{C3380CC4-5D6E-409C-BE32-E72D297353CC}">
                <c16:uniqueId val="{00000001-FFF9-4179-B7BE-B967FE95CB15}"/>
              </c:ext>
            </c:extLst>
          </c:dPt>
          <c:dPt>
            <c:idx val="1"/>
            <c:invertIfNegative val="0"/>
            <c:bubble3D val="0"/>
            <c:spPr>
              <a:solidFill>
                <a:srgbClr val="E29A93"/>
              </a:solidFill>
              <a:effectLst/>
            </c:spPr>
            <c:extLst>
              <c:ext xmlns:c16="http://schemas.microsoft.com/office/drawing/2014/chart" uri="{C3380CC4-5D6E-409C-BE32-E72D297353CC}">
                <c16:uniqueId val="{00000003-FFF9-4179-B7BE-B967FE95CB15}"/>
              </c:ext>
            </c:extLst>
          </c:dPt>
          <c:dLbls>
            <c:numFmt formatCode="#,##0" sourceLinked="0"/>
            <c:spPr>
              <a:noFill/>
              <a:ln>
                <a:noFill/>
              </a:ln>
              <a:effectLst/>
            </c:spPr>
            <c:txPr>
              <a:bodyPr/>
              <a:lstStyle/>
              <a:p>
                <a:pPr>
                  <a:defRPr sz="1200" b="1"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Salaried (No)</c:v>
                </c:pt>
                <c:pt idx="1">
                  <c:v>Self-Employed (Yes)</c:v>
                </c:pt>
              </c:strCache>
            </c:strRef>
          </c:cat>
          <c:val>
            <c:numRef>
              <c:f>Sheet1!$B$2:$B$3</c:f>
              <c:numCache>
                <c:formatCode>General</c:formatCode>
                <c:ptCount val="2"/>
                <c:pt idx="0">
                  <c:v>807</c:v>
                </c:pt>
                <c:pt idx="1">
                  <c:v>119</c:v>
                </c:pt>
              </c:numCache>
            </c:numRef>
          </c:val>
          <c:extLst>
            <c:ext xmlns:c16="http://schemas.microsoft.com/office/drawing/2014/chart" uri="{C3380CC4-5D6E-409C-BE32-E72D297353CC}">
              <c16:uniqueId val="{00000004-FFF9-4179-B7BE-B967FE95CB1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max val="1008.75"/>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By Education</a:t>
            </a:r>
          </a:p>
        </c:rich>
      </c:tx>
      <c:overlay val="0"/>
    </c:title>
    <c:autoTitleDeleted val="0"/>
    <c:plotArea>
      <c:layout/>
      <c:barChart>
        <c:barDir val="col"/>
        <c:grouping val="percentStacked"/>
        <c:varyColors val="0"/>
        <c:ser>
          <c:idx val="0"/>
          <c:order val="0"/>
          <c:tx>
            <c:strRef>
              <c:f>Sheet1!$B$1</c:f>
              <c:strCache>
                <c:ptCount val="1"/>
                <c:pt idx="0">
                  <c:v>Good Credit</c:v>
                </c:pt>
              </c:strCache>
            </c:strRef>
          </c:tx>
          <c:spPr>
            <a:solidFill>
              <a:srgbClr val="0F766E"/>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Graduate</c:v>
                </c:pt>
                <c:pt idx="1">
                  <c:v>Not Graduate</c:v>
                </c:pt>
              </c:strCache>
            </c:strRef>
          </c:cat>
          <c:val>
            <c:numRef>
              <c:f>Sheet1!$B$2:$B$3</c:f>
              <c:numCache>
                <c:formatCode>General</c:formatCode>
                <c:ptCount val="2"/>
                <c:pt idx="0">
                  <c:v>85</c:v>
                </c:pt>
                <c:pt idx="1">
                  <c:v>79</c:v>
                </c:pt>
              </c:numCache>
            </c:numRef>
          </c:val>
          <c:extLst>
            <c:ext xmlns:c16="http://schemas.microsoft.com/office/drawing/2014/chart" uri="{C3380CC4-5D6E-409C-BE32-E72D297353CC}">
              <c16:uniqueId val="{00000000-02C3-4C9C-B9F5-0D75E2952602}"/>
            </c:ext>
          </c:extLst>
        </c:ser>
        <c:ser>
          <c:idx val="1"/>
          <c:order val="1"/>
          <c:tx>
            <c:strRef>
              <c:f>Sheet1!$C$1</c:f>
              <c:strCache>
                <c:ptCount val="1"/>
                <c:pt idx="0">
                  <c:v>Bad Credit</c:v>
                </c:pt>
              </c:strCache>
            </c:strRef>
          </c:tx>
          <c:spPr>
            <a:solidFill>
              <a:srgbClr val="C0392B"/>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Graduate</c:v>
                </c:pt>
                <c:pt idx="1">
                  <c:v>Not Graduate</c:v>
                </c:pt>
              </c:strCache>
            </c:strRef>
          </c:cat>
          <c:val>
            <c:numRef>
              <c:f>Sheet1!$C$2:$C$3</c:f>
              <c:numCache>
                <c:formatCode>General</c:formatCode>
                <c:ptCount val="2"/>
                <c:pt idx="0">
                  <c:v>15</c:v>
                </c:pt>
                <c:pt idx="1">
                  <c:v>21</c:v>
                </c:pt>
              </c:numCache>
            </c:numRef>
          </c:val>
          <c:extLst>
            <c:ext xmlns:c16="http://schemas.microsoft.com/office/drawing/2014/chart" uri="{C3380CC4-5D6E-409C-BE32-E72D297353CC}">
              <c16:uniqueId val="{00000001-02C3-4C9C-B9F5-0D75E2952602}"/>
            </c:ext>
          </c:extLst>
        </c:ser>
        <c:dLbls>
          <c:dLblPos val="ctr"/>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By Gender</a:t>
            </a:r>
          </a:p>
        </c:rich>
      </c:tx>
      <c:overlay val="0"/>
    </c:title>
    <c:autoTitleDeleted val="0"/>
    <c:plotArea>
      <c:layout/>
      <c:barChart>
        <c:barDir val="col"/>
        <c:grouping val="percentStacked"/>
        <c:varyColors val="0"/>
        <c:ser>
          <c:idx val="0"/>
          <c:order val="0"/>
          <c:tx>
            <c:strRef>
              <c:f>Sheet1!$B$1</c:f>
              <c:strCache>
                <c:ptCount val="1"/>
                <c:pt idx="0">
                  <c:v>Good Credit</c:v>
                </c:pt>
              </c:strCache>
            </c:strRef>
          </c:tx>
          <c:spPr>
            <a:solidFill>
              <a:srgbClr val="0F766E"/>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Female</c:v>
                </c:pt>
                <c:pt idx="1">
                  <c:v>Male</c:v>
                </c:pt>
                <c:pt idx="2">
                  <c:v>Unknown</c:v>
                </c:pt>
              </c:strCache>
            </c:strRef>
          </c:cat>
          <c:val>
            <c:numRef>
              <c:f>Sheet1!$B$2:$B$4</c:f>
              <c:numCache>
                <c:formatCode>General</c:formatCode>
                <c:ptCount val="3"/>
                <c:pt idx="0">
                  <c:v>82</c:v>
                </c:pt>
                <c:pt idx="1">
                  <c:v>84</c:v>
                </c:pt>
                <c:pt idx="2">
                  <c:v>78</c:v>
                </c:pt>
              </c:numCache>
            </c:numRef>
          </c:val>
          <c:extLst>
            <c:ext xmlns:c16="http://schemas.microsoft.com/office/drawing/2014/chart" uri="{C3380CC4-5D6E-409C-BE32-E72D297353CC}">
              <c16:uniqueId val="{00000000-E34B-4D1D-BAAC-E9BB2EC27C7B}"/>
            </c:ext>
          </c:extLst>
        </c:ser>
        <c:ser>
          <c:idx val="1"/>
          <c:order val="1"/>
          <c:tx>
            <c:strRef>
              <c:f>Sheet1!$C$1</c:f>
              <c:strCache>
                <c:ptCount val="1"/>
                <c:pt idx="0">
                  <c:v>Bad Credit</c:v>
                </c:pt>
              </c:strCache>
            </c:strRef>
          </c:tx>
          <c:spPr>
            <a:solidFill>
              <a:srgbClr val="C0392B"/>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Female</c:v>
                </c:pt>
                <c:pt idx="1">
                  <c:v>Male</c:v>
                </c:pt>
                <c:pt idx="2">
                  <c:v>Unknown</c:v>
                </c:pt>
              </c:strCache>
            </c:strRef>
          </c:cat>
          <c:val>
            <c:numRef>
              <c:f>Sheet1!$C$2:$C$4</c:f>
              <c:numCache>
                <c:formatCode>General</c:formatCode>
                <c:ptCount val="3"/>
                <c:pt idx="0">
                  <c:v>18</c:v>
                </c:pt>
                <c:pt idx="1">
                  <c:v>16</c:v>
                </c:pt>
                <c:pt idx="2">
                  <c:v>22</c:v>
                </c:pt>
              </c:numCache>
            </c:numRef>
          </c:val>
          <c:extLst>
            <c:ext xmlns:c16="http://schemas.microsoft.com/office/drawing/2014/chart" uri="{C3380CC4-5D6E-409C-BE32-E72D297353CC}">
              <c16:uniqueId val="{00000001-E34B-4D1D-BAAC-E9BB2EC27C7B}"/>
            </c:ext>
          </c:extLst>
        </c:ser>
        <c:dLbls>
          <c:dLblPos val="ctr"/>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r"/>
      <c:overlay val="0"/>
      <c:txPr>
        <a:bodyPr/>
        <a:lstStyle/>
        <a:p>
          <a:pPr>
            <a:defRPr sz="900">
              <a:solidFill>
                <a:srgbClr val="1A1A2E"/>
              </a:solidFill>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By Marital Status</a:t>
            </a:r>
          </a:p>
        </c:rich>
      </c:tx>
      <c:overlay val="0"/>
    </c:title>
    <c:autoTitleDeleted val="0"/>
    <c:plotArea>
      <c:layout/>
      <c:barChart>
        <c:barDir val="col"/>
        <c:grouping val="percentStacked"/>
        <c:varyColors val="0"/>
        <c:ser>
          <c:idx val="0"/>
          <c:order val="0"/>
          <c:tx>
            <c:strRef>
              <c:f>Sheet1!$B$1</c:f>
              <c:strCache>
                <c:ptCount val="1"/>
                <c:pt idx="0">
                  <c:v>Good Credit</c:v>
                </c:pt>
              </c:strCache>
            </c:strRef>
          </c:tx>
          <c:spPr>
            <a:solidFill>
              <a:srgbClr val="0F766E"/>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Married</c:v>
                </c:pt>
                <c:pt idx="1">
                  <c:v>Not Married</c:v>
                </c:pt>
              </c:strCache>
            </c:strRef>
          </c:cat>
          <c:val>
            <c:numRef>
              <c:f>Sheet1!$B$2:$B$3</c:f>
              <c:numCache>
                <c:formatCode>General</c:formatCode>
                <c:ptCount val="2"/>
                <c:pt idx="0">
                  <c:v>84</c:v>
                </c:pt>
                <c:pt idx="1">
                  <c:v>82</c:v>
                </c:pt>
              </c:numCache>
            </c:numRef>
          </c:val>
          <c:extLst>
            <c:ext xmlns:c16="http://schemas.microsoft.com/office/drawing/2014/chart" uri="{C3380CC4-5D6E-409C-BE32-E72D297353CC}">
              <c16:uniqueId val="{00000000-2D3A-4565-BD89-DE50821D2DA3}"/>
            </c:ext>
          </c:extLst>
        </c:ser>
        <c:ser>
          <c:idx val="1"/>
          <c:order val="1"/>
          <c:tx>
            <c:strRef>
              <c:f>Sheet1!$C$1</c:f>
              <c:strCache>
                <c:ptCount val="1"/>
                <c:pt idx="0">
                  <c:v>Bad Credit</c:v>
                </c:pt>
              </c:strCache>
            </c:strRef>
          </c:tx>
          <c:spPr>
            <a:solidFill>
              <a:srgbClr val="C0392B"/>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Married</c:v>
                </c:pt>
                <c:pt idx="1">
                  <c:v>Not Married</c:v>
                </c:pt>
              </c:strCache>
            </c:strRef>
          </c:cat>
          <c:val>
            <c:numRef>
              <c:f>Sheet1!$C$2:$C$3</c:f>
              <c:numCache>
                <c:formatCode>General</c:formatCode>
                <c:ptCount val="2"/>
                <c:pt idx="0">
                  <c:v>16</c:v>
                </c:pt>
                <c:pt idx="1">
                  <c:v>18</c:v>
                </c:pt>
              </c:numCache>
            </c:numRef>
          </c:val>
          <c:extLst>
            <c:ext xmlns:c16="http://schemas.microsoft.com/office/drawing/2014/chart" uri="{C3380CC4-5D6E-409C-BE32-E72D297353CC}">
              <c16:uniqueId val="{00000001-2D3A-4565-BD89-DE50821D2DA3}"/>
            </c:ext>
          </c:extLst>
        </c:ser>
        <c:dLbls>
          <c:dLblPos val="ctr"/>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By Self-Employment</a:t>
            </a:r>
          </a:p>
        </c:rich>
      </c:tx>
      <c:overlay val="0"/>
    </c:title>
    <c:autoTitleDeleted val="0"/>
    <c:plotArea>
      <c:layout/>
      <c:barChart>
        <c:barDir val="col"/>
        <c:grouping val="percentStacked"/>
        <c:varyColors val="0"/>
        <c:ser>
          <c:idx val="0"/>
          <c:order val="0"/>
          <c:tx>
            <c:strRef>
              <c:f>Sheet1!$B$1</c:f>
              <c:strCache>
                <c:ptCount val="1"/>
                <c:pt idx="0">
                  <c:v>Good Credit</c:v>
                </c:pt>
              </c:strCache>
            </c:strRef>
          </c:tx>
          <c:spPr>
            <a:solidFill>
              <a:srgbClr val="0F766E"/>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Self-Employed</c:v>
                </c:pt>
                <c:pt idx="1">
                  <c:v>Salaried</c:v>
                </c:pt>
              </c:strCache>
            </c:strRef>
          </c:cat>
          <c:val>
            <c:numRef>
              <c:f>Sheet1!$B$2:$B$3</c:f>
              <c:numCache>
                <c:formatCode>General</c:formatCode>
                <c:ptCount val="2"/>
                <c:pt idx="0">
                  <c:v>87</c:v>
                </c:pt>
                <c:pt idx="1">
                  <c:v>83</c:v>
                </c:pt>
              </c:numCache>
            </c:numRef>
          </c:val>
          <c:extLst>
            <c:ext xmlns:c16="http://schemas.microsoft.com/office/drawing/2014/chart" uri="{C3380CC4-5D6E-409C-BE32-E72D297353CC}">
              <c16:uniqueId val="{00000000-1C2E-416D-A49C-89E255AAED84}"/>
            </c:ext>
          </c:extLst>
        </c:ser>
        <c:ser>
          <c:idx val="1"/>
          <c:order val="1"/>
          <c:tx>
            <c:strRef>
              <c:f>Sheet1!$C$1</c:f>
              <c:strCache>
                <c:ptCount val="1"/>
                <c:pt idx="0">
                  <c:v>Bad Credit</c:v>
                </c:pt>
              </c:strCache>
            </c:strRef>
          </c:tx>
          <c:spPr>
            <a:solidFill>
              <a:srgbClr val="C0392B"/>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Self-Employed</c:v>
                </c:pt>
                <c:pt idx="1">
                  <c:v>Salaried</c:v>
                </c:pt>
              </c:strCache>
            </c:strRef>
          </c:cat>
          <c:val>
            <c:numRef>
              <c:f>Sheet1!$C$2:$C$3</c:f>
              <c:numCache>
                <c:formatCode>General</c:formatCode>
                <c:ptCount val="2"/>
                <c:pt idx="0">
                  <c:v>13</c:v>
                </c:pt>
                <c:pt idx="1">
                  <c:v>17</c:v>
                </c:pt>
              </c:numCache>
            </c:numRef>
          </c:val>
          <c:extLst>
            <c:ext xmlns:c16="http://schemas.microsoft.com/office/drawing/2014/chart" uri="{C3380CC4-5D6E-409C-BE32-E72D297353CC}">
              <c16:uniqueId val="{00000001-1C2E-416D-A49C-89E255AAED84}"/>
            </c:ext>
          </c:extLst>
        </c:ser>
        <c:dLbls>
          <c:dLblPos val="ctr"/>
          <c:showLegendKey val="0"/>
          <c:showVal val="1"/>
          <c:showCatName val="0"/>
          <c:showSerName val="0"/>
          <c:showPercent val="0"/>
          <c:showBubbleSize val="0"/>
        </c:dLbls>
        <c:gapWidth val="4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r"/>
      <c:overlay val="0"/>
      <c:txPr>
        <a:bodyPr/>
        <a:lstStyle/>
        <a:p>
          <a:pPr>
            <a:defRPr sz="900">
              <a:solidFill>
                <a:srgbClr val="1A1A2E"/>
              </a:solidFill>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dirty="0">
                <a:solidFill>
                  <a:srgbClr val="1E2761"/>
                </a:solidFill>
                <a:latin typeface="Gill Sans MT" panose="020B0502020104020203" pitchFamily="34" charset="0"/>
              </a:rPr>
              <a:t>Applicants by Property Area </a:t>
            </a:r>
          </a:p>
        </c:rich>
      </c:tx>
      <c:overlay val="0"/>
    </c:title>
    <c:autoTitleDeleted val="0"/>
    <c:plotArea>
      <c:layout/>
      <c:doughnutChart>
        <c:varyColors val="1"/>
        <c:ser>
          <c:idx val="0"/>
          <c:order val="0"/>
          <c:tx>
            <c:strRef>
              <c:f>Sheet1!$B$1</c:f>
              <c:strCache>
                <c:ptCount val="1"/>
                <c:pt idx="0">
                  <c:v>Property Area</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8B34-439C-8710-B4E4A4A05C7E}"/>
              </c:ext>
            </c:extLst>
          </c:dPt>
          <c:dPt>
            <c:idx val="1"/>
            <c:bubble3D val="0"/>
            <c:spPr>
              <a:solidFill>
                <a:srgbClr val="5B7FD6"/>
              </a:solidFill>
              <a:effectLst/>
            </c:spPr>
            <c:extLst>
              <c:ext xmlns:c16="http://schemas.microsoft.com/office/drawing/2014/chart" uri="{C3380CC4-5D6E-409C-BE32-E72D297353CC}">
                <c16:uniqueId val="{00000003-8B34-439C-8710-B4E4A4A05C7E}"/>
              </c:ext>
            </c:extLst>
          </c:dPt>
          <c:dPt>
            <c:idx val="2"/>
            <c:bubble3D val="0"/>
            <c:spPr>
              <a:solidFill>
                <a:srgbClr val="8AA0D6"/>
              </a:solidFill>
              <a:effectLst/>
            </c:spPr>
            <c:extLst>
              <c:ext xmlns:c16="http://schemas.microsoft.com/office/drawing/2014/chart" uri="{C3380CC4-5D6E-409C-BE32-E72D297353CC}">
                <c16:uniqueId val="{00000005-8B34-439C-8710-B4E4A4A05C7E}"/>
              </c:ext>
            </c:extLst>
          </c:dPt>
          <c:dLbls>
            <c:dLbl>
              <c:idx val="0"/>
              <c:numFmt formatCode="General"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B34-439C-8710-B4E4A4A05C7E}"/>
                </c:ext>
              </c:extLst>
            </c:dLbl>
            <c:dLbl>
              <c:idx val="1"/>
              <c:numFmt formatCode="General"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B34-439C-8710-B4E4A4A05C7E}"/>
                </c:ext>
              </c:extLst>
            </c:dLbl>
            <c:dLbl>
              <c:idx val="2"/>
              <c:numFmt formatCode="General"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B34-439C-8710-B4E4A4A05C7E}"/>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Urban</c:v>
                </c:pt>
                <c:pt idx="1">
                  <c:v>Semiurban</c:v>
                </c:pt>
                <c:pt idx="2">
                  <c:v>Rural</c:v>
                </c:pt>
              </c:strCache>
            </c:strRef>
          </c:cat>
          <c:val>
            <c:numRef>
              <c:f>Sheet1!$B$2:$B$4</c:f>
              <c:numCache>
                <c:formatCode>General</c:formatCode>
                <c:ptCount val="3"/>
                <c:pt idx="0">
                  <c:v>342</c:v>
                </c:pt>
                <c:pt idx="1">
                  <c:v>349</c:v>
                </c:pt>
                <c:pt idx="2">
                  <c:v>290</c:v>
                </c:pt>
              </c:numCache>
            </c:numRef>
          </c:val>
          <c:extLst>
            <c:ext xmlns:c16="http://schemas.microsoft.com/office/drawing/2014/chart" uri="{C3380CC4-5D6E-409C-BE32-E72D297353CC}">
              <c16:uniqueId val="{00000006-8B34-439C-8710-B4E4A4A05C7E}"/>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400">
              <a:solidFill>
                <a:srgbClr val="1A1A2E"/>
              </a:solidFill>
              <a:latin typeface="Gill Sans MT" panose="020B0502020104020203" pitchFamily="34" charset="0"/>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Credit History (%) by Property Area</a:t>
            </a:r>
          </a:p>
        </c:rich>
      </c:tx>
      <c:overlay val="0"/>
    </c:title>
    <c:autoTitleDeleted val="0"/>
    <c:plotArea>
      <c:layout/>
      <c:barChart>
        <c:barDir val="col"/>
        <c:grouping val="percentStacked"/>
        <c:varyColors val="0"/>
        <c:ser>
          <c:idx val="0"/>
          <c:order val="0"/>
          <c:tx>
            <c:strRef>
              <c:f>Sheet1!$B$1</c:f>
              <c:strCache>
                <c:ptCount val="1"/>
                <c:pt idx="0">
                  <c:v>Good Credit</c:v>
                </c:pt>
              </c:strCache>
            </c:strRef>
          </c:tx>
          <c:spPr>
            <a:solidFill>
              <a:srgbClr val="0F766E"/>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Urban</c:v>
                </c:pt>
                <c:pt idx="1">
                  <c:v>Semiurban</c:v>
                </c:pt>
                <c:pt idx="2">
                  <c:v>Rural</c:v>
                </c:pt>
              </c:strCache>
            </c:strRef>
          </c:cat>
          <c:val>
            <c:numRef>
              <c:f>Sheet1!$B$2:$B$4</c:f>
              <c:numCache>
                <c:formatCode>General</c:formatCode>
                <c:ptCount val="3"/>
                <c:pt idx="0">
                  <c:v>84</c:v>
                </c:pt>
                <c:pt idx="1">
                  <c:v>84</c:v>
                </c:pt>
                <c:pt idx="2">
                  <c:v>82</c:v>
                </c:pt>
              </c:numCache>
            </c:numRef>
          </c:val>
          <c:extLst>
            <c:ext xmlns:c16="http://schemas.microsoft.com/office/drawing/2014/chart" uri="{C3380CC4-5D6E-409C-BE32-E72D297353CC}">
              <c16:uniqueId val="{00000000-EE2B-4B28-B79C-9D8DFCDFCB07}"/>
            </c:ext>
          </c:extLst>
        </c:ser>
        <c:ser>
          <c:idx val="1"/>
          <c:order val="1"/>
          <c:tx>
            <c:strRef>
              <c:f>Sheet1!$C$1</c:f>
              <c:strCache>
                <c:ptCount val="1"/>
                <c:pt idx="0">
                  <c:v>Bad Credit</c:v>
                </c:pt>
              </c:strCache>
            </c:strRef>
          </c:tx>
          <c:spPr>
            <a:solidFill>
              <a:srgbClr val="C0392B"/>
            </a:solidFill>
            <a:effectLst/>
          </c:spPr>
          <c:invertIfNegative val="0"/>
          <c:dLbls>
            <c:numFmt formatCode="0&quot;%&quot;"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Urban</c:v>
                </c:pt>
                <c:pt idx="1">
                  <c:v>Semiurban</c:v>
                </c:pt>
                <c:pt idx="2">
                  <c:v>Rural</c:v>
                </c:pt>
              </c:strCache>
            </c:strRef>
          </c:cat>
          <c:val>
            <c:numRef>
              <c:f>Sheet1!$C$2:$C$4</c:f>
              <c:numCache>
                <c:formatCode>General</c:formatCode>
                <c:ptCount val="3"/>
                <c:pt idx="0">
                  <c:v>16</c:v>
                </c:pt>
                <c:pt idx="1">
                  <c:v>16</c:v>
                </c:pt>
                <c:pt idx="2">
                  <c:v>18</c:v>
                </c:pt>
              </c:numCache>
            </c:numRef>
          </c:val>
          <c:extLst>
            <c:ext xmlns:c16="http://schemas.microsoft.com/office/drawing/2014/chart" uri="{C3380CC4-5D6E-409C-BE32-E72D297353CC}">
              <c16:uniqueId val="{00000001-EE2B-4B28-B79C-9D8DFCDFCB07}"/>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400">
              <a:solidFill>
                <a:srgbClr val="1A1A2E"/>
              </a:solidFill>
              <a:latin typeface="Gill Sans MT" panose="020B0502020104020203" pitchFamily="34" charset="0"/>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Avg. Total Income (₦, 000s)</a:t>
            </a:r>
          </a:p>
        </c:rich>
      </c:tx>
      <c:overlay val="0"/>
    </c:title>
    <c:autoTitleDeleted val="0"/>
    <c:plotArea>
      <c:layout/>
      <c:barChart>
        <c:barDir val="col"/>
        <c:grouping val="clustered"/>
        <c:varyColors val="0"/>
        <c:ser>
          <c:idx val="0"/>
          <c:order val="0"/>
          <c:tx>
            <c:strRef>
              <c:f>Sheet1!$B$1</c:f>
              <c:strCache>
                <c:ptCount val="1"/>
                <c:pt idx="0">
                  <c:v>Avg Total Income (₦000s)</c:v>
                </c:pt>
              </c:strCache>
            </c:strRef>
          </c:tx>
          <c:spPr>
            <a:solidFill>
              <a:srgbClr val="C0392B"/>
            </a:solidFill>
            <a:effectLst/>
          </c:spPr>
          <c:invertIfNegative val="0"/>
          <c:dPt>
            <c:idx val="0"/>
            <c:invertIfNegative val="0"/>
            <c:bubble3D val="0"/>
            <c:spPr>
              <a:solidFill>
                <a:srgbClr val="C0392B"/>
              </a:solidFill>
              <a:effectLst/>
            </c:spPr>
            <c:extLst>
              <c:ext xmlns:c16="http://schemas.microsoft.com/office/drawing/2014/chart" uri="{C3380CC4-5D6E-409C-BE32-E72D297353CC}">
                <c16:uniqueId val="{00000001-6B7A-4ADC-8579-4CD67BE55384}"/>
              </c:ext>
            </c:extLst>
          </c:dPt>
          <c:dPt>
            <c:idx val="1"/>
            <c:invertIfNegative val="0"/>
            <c:bubble3D val="0"/>
            <c:spPr>
              <a:solidFill>
                <a:srgbClr val="0F766E"/>
              </a:solidFill>
              <a:effectLst/>
            </c:spPr>
            <c:extLst>
              <c:ext xmlns:c16="http://schemas.microsoft.com/office/drawing/2014/chart" uri="{C3380CC4-5D6E-409C-BE32-E72D297353CC}">
                <c16:uniqueId val="{00000003-6B7A-4ADC-8579-4CD67BE55384}"/>
              </c:ext>
            </c:extLst>
          </c:dPt>
          <c:dLbls>
            <c:numFmt formatCode="#,##0" sourceLinked="0"/>
            <c:spPr>
              <a:noFill/>
              <a:ln>
                <a:noFill/>
              </a:ln>
              <a:effectLst/>
            </c:spPr>
            <c:txPr>
              <a:bodyPr/>
              <a:lstStyle/>
              <a:p>
                <a:pPr>
                  <a:defRPr sz="1400" b="1" i="0" u="none" strike="noStrike">
                    <a:solidFill>
                      <a:srgbClr val="1A1A2E"/>
                    </a:solidFill>
                    <a:latin typeface="Gill Sans MT" panose="020B05020201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Bad Credit</c:v>
                </c:pt>
                <c:pt idx="1">
                  <c:v>Good Credit</c:v>
                </c:pt>
              </c:strCache>
            </c:strRef>
          </c:cat>
          <c:val>
            <c:numRef>
              <c:f>Sheet1!$B$2:$B$3</c:f>
              <c:numCache>
                <c:formatCode>General</c:formatCode>
                <c:ptCount val="2"/>
                <c:pt idx="0">
                  <c:v>6583.2</c:v>
                </c:pt>
                <c:pt idx="1">
                  <c:v>6771.5</c:v>
                </c:pt>
              </c:numCache>
            </c:numRef>
          </c:val>
          <c:extLst>
            <c:ext xmlns:c16="http://schemas.microsoft.com/office/drawing/2014/chart" uri="{C3380CC4-5D6E-409C-BE32-E72D297353CC}">
              <c16:uniqueId val="{00000004-6B7A-4ADC-8579-4CD67BE5538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max val="8200"/>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Gill Sans MT" panose="020B0502020104020203" pitchFamily="34" charset="0"/>
              </a:defRPr>
            </a:pPr>
            <a:r>
              <a:rPr lang="en-US" sz="1400" b="0" i="0" u="none" strike="noStrike">
                <a:solidFill>
                  <a:srgbClr val="1E2761"/>
                </a:solidFill>
                <a:latin typeface="Gill Sans MT" panose="020B0502020104020203" pitchFamily="34" charset="0"/>
              </a:rPr>
              <a:t>Avg. Loan Amount (₦, 000s)</a:t>
            </a:r>
          </a:p>
        </c:rich>
      </c:tx>
      <c:overlay val="0"/>
    </c:title>
    <c:autoTitleDeleted val="0"/>
    <c:plotArea>
      <c:layout/>
      <c:barChart>
        <c:barDir val="col"/>
        <c:grouping val="clustered"/>
        <c:varyColors val="0"/>
        <c:ser>
          <c:idx val="0"/>
          <c:order val="0"/>
          <c:tx>
            <c:strRef>
              <c:f>Sheet1!$B$1</c:f>
              <c:strCache>
                <c:ptCount val="1"/>
                <c:pt idx="0">
                  <c:v>Avg Loan Amount (₦000s)</c:v>
                </c:pt>
              </c:strCache>
            </c:strRef>
          </c:tx>
          <c:spPr>
            <a:solidFill>
              <a:srgbClr val="C0392B"/>
            </a:solidFill>
            <a:effectLst/>
          </c:spPr>
          <c:invertIfNegative val="0"/>
          <c:dPt>
            <c:idx val="0"/>
            <c:invertIfNegative val="0"/>
            <c:bubble3D val="0"/>
            <c:spPr>
              <a:solidFill>
                <a:srgbClr val="C0392B"/>
              </a:solidFill>
              <a:effectLst/>
            </c:spPr>
            <c:extLst>
              <c:ext xmlns:c16="http://schemas.microsoft.com/office/drawing/2014/chart" uri="{C3380CC4-5D6E-409C-BE32-E72D297353CC}">
                <c16:uniqueId val="{00000001-9CE8-4B65-BDD5-F30E7CCBCDEA}"/>
              </c:ext>
            </c:extLst>
          </c:dPt>
          <c:dPt>
            <c:idx val="1"/>
            <c:invertIfNegative val="0"/>
            <c:bubble3D val="0"/>
            <c:spPr>
              <a:solidFill>
                <a:srgbClr val="0F766E"/>
              </a:solidFill>
              <a:effectLst/>
            </c:spPr>
            <c:extLst>
              <c:ext xmlns:c16="http://schemas.microsoft.com/office/drawing/2014/chart" uri="{C3380CC4-5D6E-409C-BE32-E72D297353CC}">
                <c16:uniqueId val="{00000003-9CE8-4B65-BDD5-F30E7CCBCDEA}"/>
              </c:ext>
            </c:extLst>
          </c:dPt>
          <c:dLbls>
            <c:numFmt formatCode="#,##0" sourceLinked="0"/>
            <c:spPr>
              <a:noFill/>
              <a:ln>
                <a:noFill/>
              </a:ln>
              <a:effectLst/>
            </c:spPr>
            <c:txPr>
              <a:bodyPr/>
              <a:lstStyle/>
              <a:p>
                <a:pPr>
                  <a:defRPr sz="1400" b="1" i="0" u="none" strike="noStrike">
                    <a:solidFill>
                      <a:srgbClr val="1A1A2E"/>
                    </a:solidFill>
                    <a:latin typeface="Gill Sans MT" panose="020B05020201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Bad Credit</c:v>
                </c:pt>
                <c:pt idx="1">
                  <c:v>Good Credit</c:v>
                </c:pt>
              </c:strCache>
            </c:strRef>
          </c:cat>
          <c:val>
            <c:numRef>
              <c:f>Sheet1!$B$2:$B$3</c:f>
              <c:numCache>
                <c:formatCode>General</c:formatCode>
                <c:ptCount val="2"/>
                <c:pt idx="0">
                  <c:v>143.19999999999999</c:v>
                </c:pt>
                <c:pt idx="1">
                  <c:v>141.5</c:v>
                </c:pt>
              </c:numCache>
            </c:numRef>
          </c:val>
          <c:extLst>
            <c:ext xmlns:c16="http://schemas.microsoft.com/office/drawing/2014/chart" uri="{C3380CC4-5D6E-409C-BE32-E72D297353CC}">
              <c16:uniqueId val="{00000004-9CE8-4B65-BDD5-F30E7CCBCDEA}"/>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2E"/>
                </a:solidFill>
                <a:latin typeface="Gill Sans MT" panose="020B0502020104020203" pitchFamily="34" charset="0"/>
              </a:defRPr>
            </a:pPr>
            <a:endParaRPr lang="en-US"/>
          </a:p>
        </c:txPr>
        <c:crossAx val="2094734552"/>
        <c:crosses val="autoZero"/>
        <c:auto val="1"/>
        <c:lblAlgn val="ctr"/>
        <c:lblOffset val="100"/>
        <c:noMultiLvlLbl val="1"/>
      </c:catAx>
      <c:valAx>
        <c:axId val="2094734552"/>
        <c:scaling>
          <c:orientation val="minMax"/>
          <c:max val="175"/>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410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6.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txBody>
          <a:bodyPr/>
          <a:lstStyle/>
          <a:p>
            <a:endParaRPr lang="en-US" dirty="0"/>
          </a:p>
        </p:txBody>
      </p:sp>
      <p:sp>
        <p:nvSpPr>
          <p:cNvPr id="3" name="Shape 1"/>
          <p:cNvSpPr/>
          <p:nvPr/>
        </p:nvSpPr>
        <p:spPr>
          <a:xfrm>
            <a:off x="8961120" y="-2011680"/>
            <a:ext cx="5486400" cy="5486400"/>
          </a:xfrm>
          <a:prstGeom prst="ellipse">
            <a:avLst/>
          </a:prstGeom>
          <a:solidFill>
            <a:srgbClr val="141B4D"/>
          </a:solidFill>
          <a:ln/>
        </p:spPr>
      </p:sp>
      <p:sp>
        <p:nvSpPr>
          <p:cNvPr id="4" name="Shape 2"/>
          <p:cNvSpPr/>
          <p:nvPr/>
        </p:nvSpPr>
        <p:spPr>
          <a:xfrm>
            <a:off x="9875520" y="3840480"/>
            <a:ext cx="4114800" cy="4114800"/>
          </a:xfrm>
          <a:prstGeom prst="ellipse">
            <a:avLst/>
          </a:prstGeom>
          <a:solidFill>
            <a:srgbClr val="141B4D"/>
          </a:solidFill>
          <a:ln/>
        </p:spPr>
      </p:sp>
      <p:sp>
        <p:nvSpPr>
          <p:cNvPr id="5" name="Text 3"/>
          <p:cNvSpPr/>
          <p:nvPr/>
        </p:nvSpPr>
        <p:spPr>
          <a:xfrm>
            <a:off x="731520" y="1554480"/>
            <a:ext cx="7315200" cy="365760"/>
          </a:xfrm>
          <a:prstGeom prst="rect">
            <a:avLst/>
          </a:prstGeom>
          <a:noFill/>
          <a:ln/>
        </p:spPr>
        <p:txBody>
          <a:bodyPr wrap="square" rtlCol="0" anchor="ctr"/>
          <a:lstStyle/>
          <a:p>
            <a:pPr marL="0" indent="0">
              <a:buNone/>
            </a:pPr>
            <a:r>
              <a:rPr lang="en-US" sz="1400" b="1" kern="0" spc="200" dirty="0">
                <a:solidFill>
                  <a:srgbClr val="0F766E"/>
                </a:solidFill>
                <a:latin typeface="Gill Sans MT" panose="020B0502020104020203" pitchFamily="34" charset="0"/>
                <a:ea typeface="Calibri" pitchFamily="34" charset="-122"/>
                <a:cs typeface="Calibri" pitchFamily="34" charset="-120"/>
              </a:rPr>
              <a:t>LOANPAY  ·  RISK &amp; MARKETING ANALYTICS</a:t>
            </a:r>
            <a:endParaRPr lang="en-US" sz="1400" dirty="0">
              <a:latin typeface="Gill Sans MT" panose="020B0502020104020203" pitchFamily="34" charset="0"/>
            </a:endParaRPr>
          </a:p>
        </p:txBody>
      </p:sp>
      <p:sp>
        <p:nvSpPr>
          <p:cNvPr id="6" name="Text 4"/>
          <p:cNvSpPr/>
          <p:nvPr/>
        </p:nvSpPr>
        <p:spPr>
          <a:xfrm>
            <a:off x="731520" y="2377440"/>
            <a:ext cx="10058400" cy="1463040"/>
          </a:xfrm>
          <a:prstGeom prst="rect">
            <a:avLst/>
          </a:prstGeom>
          <a:noFill/>
          <a:ln/>
        </p:spPr>
        <p:txBody>
          <a:bodyPr wrap="square" rtlCol="0" anchor="ctr"/>
          <a:lstStyle/>
          <a:p>
            <a:pPr marL="0" indent="0">
              <a:buNone/>
            </a:pPr>
            <a:r>
              <a:rPr lang="en-US" sz="4200" b="1" dirty="0">
                <a:solidFill>
                  <a:srgbClr val="FFFFFF"/>
                </a:solidFill>
                <a:latin typeface="Gill Sans MT" panose="020B0502020104020203" pitchFamily="34" charset="0"/>
                <a:ea typeface="Cambria" pitchFamily="34" charset="-122"/>
                <a:cs typeface="Cambria" pitchFamily="34" charset="-120"/>
              </a:rPr>
              <a:t>Who Did the Creditly Campaign Attract?</a:t>
            </a:r>
            <a:endParaRPr lang="en-US" sz="4200" dirty="0">
              <a:latin typeface="Gill Sans MT" panose="020B0502020104020203" pitchFamily="34" charset="0"/>
            </a:endParaRPr>
          </a:p>
        </p:txBody>
      </p:sp>
      <p:sp>
        <p:nvSpPr>
          <p:cNvPr id="7" name="Text 5"/>
          <p:cNvSpPr/>
          <p:nvPr/>
        </p:nvSpPr>
        <p:spPr>
          <a:xfrm>
            <a:off x="731520" y="3429000"/>
            <a:ext cx="8686800" cy="914400"/>
          </a:xfrm>
          <a:prstGeom prst="rect">
            <a:avLst/>
          </a:prstGeom>
          <a:noFill/>
          <a:ln/>
        </p:spPr>
        <p:txBody>
          <a:bodyPr wrap="square" rtlCol="0" anchor="t"/>
          <a:lstStyle/>
          <a:p>
            <a:pPr marL="0" indent="0">
              <a:buNone/>
            </a:pPr>
            <a:endParaRPr lang="en-US" sz="1500" dirty="0">
              <a:latin typeface="Gill Sans MT" panose="020B0502020104020203" pitchFamily="34" charset="0"/>
            </a:endParaRPr>
          </a:p>
        </p:txBody>
      </p:sp>
      <p:sp>
        <p:nvSpPr>
          <p:cNvPr id="8" name="Shape 6"/>
          <p:cNvSpPr/>
          <p:nvPr/>
        </p:nvSpPr>
        <p:spPr>
          <a:xfrm>
            <a:off x="731520" y="4663440"/>
            <a:ext cx="2011680" cy="0"/>
          </a:xfrm>
          <a:prstGeom prst="line">
            <a:avLst/>
          </a:prstGeom>
          <a:noFill/>
          <a:ln w="38100">
            <a:solidFill>
              <a:srgbClr val="0F766E"/>
            </a:solidFill>
            <a:prstDash val="solid"/>
          </a:ln>
        </p:spPr>
      </p:sp>
      <p:sp>
        <p:nvSpPr>
          <p:cNvPr id="9" name="Text 7"/>
          <p:cNvSpPr/>
          <p:nvPr/>
        </p:nvSpPr>
        <p:spPr>
          <a:xfrm>
            <a:off x="731520" y="4846320"/>
            <a:ext cx="8229600" cy="365760"/>
          </a:xfrm>
          <a:prstGeom prst="rect">
            <a:avLst/>
          </a:prstGeom>
          <a:noFill/>
          <a:ln/>
        </p:spPr>
        <p:txBody>
          <a:bodyPr wrap="square" rtlCol="0" anchor="ctr"/>
          <a:lstStyle/>
          <a:p>
            <a:pPr marL="0" indent="0">
              <a:buNone/>
            </a:pPr>
            <a:r>
              <a:rPr lang="en-US" sz="1400" b="1" dirty="0">
                <a:solidFill>
                  <a:srgbClr val="9AA6D6"/>
                </a:solidFill>
                <a:latin typeface="Gill Sans MT" panose="020B0502020104020203" pitchFamily="34" charset="0"/>
                <a:ea typeface="Calibri" pitchFamily="34" charset="-122"/>
                <a:cs typeface="Calibri" pitchFamily="34" charset="-120"/>
              </a:rPr>
              <a:t>Obinna Muonanu |  </a:t>
            </a:r>
            <a:r>
              <a:rPr lang="en-US" sz="1400" b="1" dirty="0" err="1">
                <a:solidFill>
                  <a:srgbClr val="9AA6D6"/>
                </a:solidFill>
                <a:latin typeface="Gill Sans MT" panose="020B0502020104020203" pitchFamily="34" charset="0"/>
                <a:ea typeface="Calibri" pitchFamily="34" charset="-122"/>
                <a:cs typeface="Calibri" pitchFamily="34" charset="-120"/>
              </a:rPr>
              <a:t>TeSA</a:t>
            </a:r>
            <a:r>
              <a:rPr lang="en-US" sz="1400" b="1" dirty="0">
                <a:solidFill>
                  <a:srgbClr val="9AA6D6"/>
                </a:solidFill>
                <a:latin typeface="Gill Sans MT" panose="020B0502020104020203" pitchFamily="34" charset="0"/>
                <a:ea typeface="Calibri" pitchFamily="34" charset="-122"/>
                <a:cs typeface="Calibri" pitchFamily="34" charset="-120"/>
              </a:rPr>
              <a:t> AI Specialization</a:t>
            </a:r>
            <a:endParaRPr lang="en-US" sz="1400" b="1" dirty="0">
              <a:latin typeface="Gill Sans MT" panose="020B05020201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41960" y="585627"/>
            <a:ext cx="7315200" cy="320040"/>
          </a:xfrm>
          <a:prstGeom prst="rect">
            <a:avLst/>
          </a:prstGeom>
          <a:noFill/>
          <a:ln/>
        </p:spPr>
        <p:txBody>
          <a:bodyPr wrap="square" rtlCol="0" anchor="ctr"/>
          <a:lstStyle/>
          <a:p>
            <a:pPr marL="0" indent="0">
              <a:buNone/>
            </a:pPr>
            <a:r>
              <a:rPr lang="en-US" sz="1600" b="1" kern="0" spc="200" dirty="0">
                <a:solidFill>
                  <a:srgbClr val="0F766E"/>
                </a:solidFill>
                <a:latin typeface="Gill Sans MT" panose="020B0502020104020203" pitchFamily="34" charset="0"/>
                <a:ea typeface="Calibri" pitchFamily="34" charset="-122"/>
                <a:cs typeface="Calibri" pitchFamily="34" charset="-120"/>
              </a:rPr>
              <a:t>BUSINESS CONTEXT</a:t>
            </a:r>
            <a:endParaRPr lang="en-US" sz="1600" dirty="0">
              <a:latin typeface="Gill Sans MT" panose="020B0502020104020203" pitchFamily="34" charset="0"/>
            </a:endParaRPr>
          </a:p>
        </p:txBody>
      </p:sp>
      <p:sp>
        <p:nvSpPr>
          <p:cNvPr id="3" name="Text 1"/>
          <p:cNvSpPr/>
          <p:nvPr/>
        </p:nvSpPr>
        <p:spPr>
          <a:xfrm>
            <a:off x="457200" y="1218513"/>
            <a:ext cx="6629400" cy="1250367"/>
          </a:xfrm>
          <a:prstGeom prst="rect">
            <a:avLst/>
          </a:prstGeom>
          <a:noFill/>
          <a:ln/>
        </p:spPr>
        <p:txBody>
          <a:bodyPr wrap="square" rtlCol="0" anchor="ctr"/>
          <a:lstStyle/>
          <a:p>
            <a:pPr marL="0" indent="0" algn="l">
              <a:buNone/>
            </a:pPr>
            <a:r>
              <a:rPr lang="en-US" sz="2800" b="1" dirty="0">
                <a:solidFill>
                  <a:srgbClr val="1E2761"/>
                </a:solidFill>
                <a:latin typeface="Gill Sans MT" panose="020B0502020104020203" pitchFamily="34" charset="0"/>
                <a:ea typeface="Cambria" pitchFamily="34" charset="-122"/>
                <a:cs typeface="Cambria" pitchFamily="34" charset="-120"/>
              </a:rPr>
              <a:t>A Surge in Applications Means </a:t>
            </a:r>
          </a:p>
          <a:p>
            <a:pPr marL="0" indent="0" algn="l">
              <a:buNone/>
            </a:pPr>
            <a:r>
              <a:rPr lang="en-US" sz="2800" b="1" dirty="0">
                <a:solidFill>
                  <a:srgbClr val="1E2761"/>
                </a:solidFill>
                <a:latin typeface="Gill Sans MT" panose="020B0502020104020203" pitchFamily="34" charset="0"/>
                <a:ea typeface="Cambria" pitchFamily="34" charset="-122"/>
                <a:cs typeface="Cambria" pitchFamily="34" charset="-120"/>
              </a:rPr>
              <a:t>Nothing on Its Own</a:t>
            </a:r>
            <a:endParaRPr lang="en-US" sz="2800" dirty="0">
              <a:latin typeface="Gill Sans MT" panose="020B0502020104020203" pitchFamily="34" charset="0"/>
            </a:endParaRPr>
          </a:p>
        </p:txBody>
      </p:sp>
      <p:sp>
        <p:nvSpPr>
          <p:cNvPr id="4" name="Text 2"/>
          <p:cNvSpPr/>
          <p:nvPr/>
        </p:nvSpPr>
        <p:spPr>
          <a:xfrm>
            <a:off x="441960" y="2606040"/>
            <a:ext cx="6492240" cy="914400"/>
          </a:xfrm>
          <a:prstGeom prst="rect">
            <a:avLst/>
          </a:prstGeom>
          <a:noFill/>
          <a:ln/>
        </p:spPr>
        <p:txBody>
          <a:bodyPr wrap="square" rtlCol="0" anchor="t"/>
          <a:lstStyle/>
          <a:p>
            <a:pPr marL="0" indent="0">
              <a:lnSpc>
                <a:spcPct val="115000"/>
              </a:lnSpc>
              <a:buNone/>
            </a:pPr>
            <a:r>
              <a:rPr lang="en-US" b="1" dirty="0">
                <a:solidFill>
                  <a:srgbClr val="1E2761"/>
                </a:solidFill>
                <a:latin typeface="Gill Sans MT" panose="020B0502020104020203" pitchFamily="34" charset="0"/>
                <a:ea typeface="Calibri" pitchFamily="34" charset="-122"/>
                <a:cs typeface="Calibri" pitchFamily="34" charset="-120"/>
              </a:rPr>
              <a:t>The situation: </a:t>
            </a:r>
            <a:r>
              <a:rPr lang="en-US" dirty="0">
                <a:solidFill>
                  <a:srgbClr val="1A1A2E"/>
                </a:solidFill>
                <a:latin typeface="Gill Sans MT" panose="020B0502020104020203" pitchFamily="34" charset="0"/>
                <a:ea typeface="Calibri" pitchFamily="34" charset="-122"/>
                <a:cs typeface="Calibri" pitchFamily="34" charset="-120"/>
              </a:rPr>
              <a:t>LoanPay launched Creditly, its digital loan platform, behind an aggressive marketing push to drive applications.</a:t>
            </a:r>
            <a:endParaRPr lang="en-US" dirty="0">
              <a:latin typeface="Gill Sans MT" panose="020B0502020104020203" pitchFamily="34" charset="0"/>
            </a:endParaRPr>
          </a:p>
        </p:txBody>
      </p:sp>
      <p:sp>
        <p:nvSpPr>
          <p:cNvPr id="5" name="Text 3"/>
          <p:cNvSpPr/>
          <p:nvPr/>
        </p:nvSpPr>
        <p:spPr>
          <a:xfrm>
            <a:off x="457200" y="3794760"/>
            <a:ext cx="6492240" cy="1005840"/>
          </a:xfrm>
          <a:prstGeom prst="rect">
            <a:avLst/>
          </a:prstGeom>
          <a:noFill/>
          <a:ln/>
        </p:spPr>
        <p:txBody>
          <a:bodyPr wrap="square" rtlCol="0" anchor="t"/>
          <a:lstStyle/>
          <a:p>
            <a:pPr marL="0" indent="0">
              <a:lnSpc>
                <a:spcPct val="115000"/>
              </a:lnSpc>
              <a:buNone/>
            </a:pPr>
            <a:r>
              <a:rPr lang="en-US" b="1" dirty="0">
                <a:solidFill>
                  <a:srgbClr val="1E2761"/>
                </a:solidFill>
                <a:latin typeface="Gill Sans MT" panose="020B0502020104020203" pitchFamily="34" charset="0"/>
                <a:ea typeface="Calibri" pitchFamily="34" charset="-122"/>
                <a:cs typeface="Calibri" pitchFamily="34" charset="-120"/>
              </a:rPr>
              <a:t>The risk: </a:t>
            </a:r>
            <a:r>
              <a:rPr lang="en-US" dirty="0">
                <a:solidFill>
                  <a:srgbClr val="1A1A2E"/>
                </a:solidFill>
                <a:latin typeface="Gill Sans MT" panose="020B0502020104020203" pitchFamily="34" charset="0"/>
                <a:ea typeface="Calibri" pitchFamily="34" charset="-122"/>
                <a:cs typeface="Calibri" pitchFamily="34" charset="-120"/>
              </a:rPr>
              <a:t>volume is dangerous if the campaign disproportionately pulled in high-risk profiles rather than the financially sound customers LoanPay intended to reach.</a:t>
            </a:r>
            <a:endParaRPr lang="en-US" dirty="0">
              <a:latin typeface="Gill Sans MT" panose="020B0502020104020203" pitchFamily="34" charset="0"/>
            </a:endParaRPr>
          </a:p>
        </p:txBody>
      </p:sp>
      <p:sp>
        <p:nvSpPr>
          <p:cNvPr id="6" name="Text 4"/>
          <p:cNvSpPr/>
          <p:nvPr/>
        </p:nvSpPr>
        <p:spPr>
          <a:xfrm>
            <a:off x="441960" y="5257800"/>
            <a:ext cx="6492240" cy="822960"/>
          </a:xfrm>
          <a:prstGeom prst="rect">
            <a:avLst/>
          </a:prstGeom>
          <a:noFill/>
          <a:ln/>
        </p:spPr>
        <p:txBody>
          <a:bodyPr wrap="square" rtlCol="0" anchor="t"/>
          <a:lstStyle/>
          <a:p>
            <a:pPr marL="0" indent="0">
              <a:lnSpc>
                <a:spcPct val="115000"/>
              </a:lnSpc>
              <a:buNone/>
            </a:pPr>
            <a:r>
              <a:rPr lang="en-US" b="1" dirty="0">
                <a:solidFill>
                  <a:srgbClr val="1E2761"/>
                </a:solidFill>
                <a:latin typeface="Gill Sans MT" panose="020B0502020104020203" pitchFamily="34" charset="0"/>
                <a:ea typeface="Calibri" pitchFamily="34" charset="-122"/>
                <a:cs typeface="Calibri" pitchFamily="34" charset="-120"/>
              </a:rPr>
              <a:t>The question: </a:t>
            </a:r>
            <a:r>
              <a:rPr lang="en-US" i="1" dirty="0">
                <a:solidFill>
                  <a:srgbClr val="1A1A2E"/>
                </a:solidFill>
                <a:latin typeface="Gill Sans MT" panose="020B0502020104020203" pitchFamily="34" charset="0"/>
                <a:ea typeface="Calibri" pitchFamily="34" charset="-122"/>
                <a:cs typeface="Calibri" pitchFamily="34" charset="-120"/>
              </a:rPr>
              <a:t>before any lending decisions or further campaign spend, “Who did we actually attract?”</a:t>
            </a:r>
            <a:endParaRPr lang="en-US" dirty="0">
              <a:latin typeface="Gill Sans MT" panose="020B0502020104020203" pitchFamily="34" charset="0"/>
            </a:endParaRPr>
          </a:p>
        </p:txBody>
      </p:sp>
      <p:sp>
        <p:nvSpPr>
          <p:cNvPr id="7" name="Shape 5"/>
          <p:cNvSpPr/>
          <p:nvPr/>
        </p:nvSpPr>
        <p:spPr>
          <a:xfrm>
            <a:off x="7406640" y="1508760"/>
            <a:ext cx="4343400" cy="4709160"/>
          </a:xfrm>
          <a:prstGeom prst="roundRect">
            <a:avLst>
              <a:gd name="adj" fmla="val 1684"/>
            </a:avLst>
          </a:prstGeom>
          <a:solidFill>
            <a:srgbClr val="1E2761"/>
          </a:solidFill>
          <a:ln/>
        </p:spPr>
      </p:sp>
      <p:sp>
        <p:nvSpPr>
          <p:cNvPr id="8" name="Text 6"/>
          <p:cNvSpPr/>
          <p:nvPr/>
        </p:nvSpPr>
        <p:spPr>
          <a:xfrm>
            <a:off x="7772400" y="1783080"/>
            <a:ext cx="3657600" cy="320040"/>
          </a:xfrm>
          <a:prstGeom prst="rect">
            <a:avLst/>
          </a:prstGeom>
          <a:noFill/>
          <a:ln/>
        </p:spPr>
        <p:txBody>
          <a:bodyPr wrap="square" rtlCol="0" anchor="ctr"/>
          <a:lstStyle/>
          <a:p>
            <a:pPr marL="0" indent="0">
              <a:buNone/>
            </a:pPr>
            <a:r>
              <a:rPr lang="en-US" sz="1400" b="1" kern="0" spc="150" dirty="0">
                <a:solidFill>
                  <a:srgbClr val="0F766E"/>
                </a:solidFill>
                <a:latin typeface="Gill Sans MT" panose="020B0502020104020203" pitchFamily="34" charset="0"/>
                <a:ea typeface="Calibri" pitchFamily="34" charset="-122"/>
                <a:cs typeface="Calibri" pitchFamily="34" charset="-120"/>
              </a:rPr>
              <a:t>THE DATASET</a:t>
            </a:r>
            <a:endParaRPr lang="en-US" sz="1400" dirty="0">
              <a:latin typeface="Gill Sans MT" panose="020B0502020104020203" pitchFamily="34" charset="0"/>
            </a:endParaRPr>
          </a:p>
        </p:txBody>
      </p:sp>
      <p:sp>
        <p:nvSpPr>
          <p:cNvPr id="9" name="Text 7"/>
          <p:cNvSpPr/>
          <p:nvPr/>
        </p:nvSpPr>
        <p:spPr>
          <a:xfrm>
            <a:off x="7772400" y="2103120"/>
            <a:ext cx="3657600" cy="822960"/>
          </a:xfrm>
          <a:prstGeom prst="rect">
            <a:avLst/>
          </a:prstGeom>
          <a:noFill/>
          <a:ln/>
        </p:spPr>
        <p:txBody>
          <a:bodyPr wrap="square" rtlCol="0" anchor="ctr"/>
          <a:lstStyle/>
          <a:p>
            <a:pPr marL="0" indent="0">
              <a:buNone/>
            </a:pPr>
            <a:r>
              <a:rPr lang="en-US" sz="4600" b="1" dirty="0">
                <a:solidFill>
                  <a:srgbClr val="FFFFFF"/>
                </a:solidFill>
                <a:latin typeface="Gill Sans MT" panose="020B0502020104020203" pitchFamily="34" charset="0"/>
                <a:ea typeface="Cambria" pitchFamily="34" charset="-122"/>
                <a:cs typeface="Cambria" pitchFamily="34" charset="-120"/>
              </a:rPr>
              <a:t>981</a:t>
            </a:r>
            <a:endParaRPr lang="en-US" sz="4600" dirty="0">
              <a:latin typeface="Gill Sans MT" panose="020B0502020104020203" pitchFamily="34" charset="0"/>
            </a:endParaRPr>
          </a:p>
        </p:txBody>
      </p:sp>
      <p:sp>
        <p:nvSpPr>
          <p:cNvPr id="10" name="Text 8"/>
          <p:cNvSpPr/>
          <p:nvPr/>
        </p:nvSpPr>
        <p:spPr>
          <a:xfrm>
            <a:off x="7772400" y="2788920"/>
            <a:ext cx="3657600" cy="365760"/>
          </a:xfrm>
          <a:prstGeom prst="rect">
            <a:avLst/>
          </a:prstGeom>
          <a:noFill/>
          <a:ln/>
        </p:spPr>
        <p:txBody>
          <a:bodyPr wrap="square" rtlCol="0" anchor="ctr"/>
          <a:lstStyle/>
          <a:p>
            <a:pPr marL="0" indent="0">
              <a:buNone/>
            </a:pPr>
            <a:r>
              <a:rPr lang="en-US" sz="1400" dirty="0">
                <a:solidFill>
                  <a:srgbClr val="CADCFC"/>
                </a:solidFill>
                <a:latin typeface="Gill Sans MT" panose="020B0502020104020203" pitchFamily="34" charset="0"/>
                <a:ea typeface="Calibri" pitchFamily="34" charset="-122"/>
                <a:cs typeface="Calibri" pitchFamily="34" charset="-120"/>
              </a:rPr>
              <a:t>applicants in the post-launch pool</a:t>
            </a:r>
            <a:endParaRPr lang="en-US" sz="1400" dirty="0">
              <a:latin typeface="Gill Sans MT" panose="020B0502020104020203" pitchFamily="34" charset="0"/>
            </a:endParaRPr>
          </a:p>
        </p:txBody>
      </p:sp>
      <p:sp>
        <p:nvSpPr>
          <p:cNvPr id="11" name="Text 9"/>
          <p:cNvSpPr/>
          <p:nvPr/>
        </p:nvSpPr>
        <p:spPr>
          <a:xfrm>
            <a:off x="7772400" y="3337560"/>
            <a:ext cx="3703320" cy="1920240"/>
          </a:xfrm>
          <a:prstGeom prst="rect">
            <a:avLst/>
          </a:prstGeom>
          <a:noFill/>
          <a:ln/>
        </p:spPr>
        <p:txBody>
          <a:bodyPr wrap="square" rtlCol="0" anchor="t"/>
          <a:lstStyle/>
          <a:p>
            <a:pPr marL="177800" indent="-177800">
              <a:spcAft>
                <a:spcPts val="800"/>
              </a:spcAft>
              <a:buSzPct val="100000"/>
              <a:buChar char="•"/>
            </a:pPr>
            <a:r>
              <a:rPr lang="en-US" sz="1400" dirty="0">
                <a:solidFill>
                  <a:srgbClr val="FFFFFF"/>
                </a:solidFill>
                <a:latin typeface="Gill Sans MT" panose="020B0502020104020203" pitchFamily="34" charset="0"/>
                <a:ea typeface="Calibri" pitchFamily="34" charset="-122"/>
                <a:cs typeface="Calibri" pitchFamily="34" charset="-120"/>
              </a:rPr>
              <a:t>Credit history (good / bad)</a:t>
            </a:r>
            <a:endParaRPr lang="en-US" sz="1400" dirty="0">
              <a:latin typeface="Gill Sans MT" panose="020B0502020104020203" pitchFamily="34" charset="0"/>
            </a:endParaRPr>
          </a:p>
          <a:p>
            <a:pPr marL="177800" indent="-177800">
              <a:spcAft>
                <a:spcPts val="800"/>
              </a:spcAft>
              <a:buSzPct val="100000"/>
              <a:buChar char="•"/>
            </a:pPr>
            <a:r>
              <a:rPr lang="en-US" sz="1400" dirty="0">
                <a:solidFill>
                  <a:srgbClr val="FFFFFF"/>
                </a:solidFill>
                <a:latin typeface="Gill Sans MT" panose="020B0502020104020203" pitchFamily="34" charset="0"/>
                <a:ea typeface="Calibri" pitchFamily="34" charset="-122"/>
                <a:cs typeface="Calibri" pitchFamily="34" charset="-120"/>
              </a:rPr>
              <a:t>Gender, marital status, education</a:t>
            </a:r>
            <a:endParaRPr lang="en-US" sz="1400" dirty="0">
              <a:latin typeface="Gill Sans MT" panose="020B0502020104020203" pitchFamily="34" charset="0"/>
            </a:endParaRPr>
          </a:p>
          <a:p>
            <a:pPr marL="177800" indent="-177800">
              <a:spcAft>
                <a:spcPts val="800"/>
              </a:spcAft>
              <a:buSzPct val="100000"/>
              <a:buChar char="•"/>
            </a:pPr>
            <a:r>
              <a:rPr lang="en-US" sz="1400" dirty="0">
                <a:solidFill>
                  <a:srgbClr val="FFFFFF"/>
                </a:solidFill>
                <a:latin typeface="Gill Sans MT" panose="020B0502020104020203" pitchFamily="34" charset="0"/>
                <a:ea typeface="Calibri" pitchFamily="34" charset="-122"/>
                <a:cs typeface="Calibri" pitchFamily="34" charset="-120"/>
              </a:rPr>
              <a:t>Self-employment status</a:t>
            </a:r>
            <a:endParaRPr lang="en-US" sz="1400" dirty="0">
              <a:latin typeface="Gill Sans MT" panose="020B0502020104020203" pitchFamily="34" charset="0"/>
            </a:endParaRPr>
          </a:p>
          <a:p>
            <a:pPr marL="177800" indent="-177800">
              <a:spcAft>
                <a:spcPts val="800"/>
              </a:spcAft>
              <a:buSzPct val="100000"/>
              <a:buChar char="•"/>
            </a:pPr>
            <a:r>
              <a:rPr lang="en-US" sz="1400" dirty="0">
                <a:solidFill>
                  <a:srgbClr val="FFFFFF"/>
                </a:solidFill>
                <a:latin typeface="Gill Sans MT" panose="020B0502020104020203" pitchFamily="34" charset="0"/>
                <a:ea typeface="Calibri" pitchFamily="34" charset="-122"/>
                <a:cs typeface="Calibri" pitchFamily="34" charset="-120"/>
              </a:rPr>
              <a:t>Applicant &amp; co-applicant income</a:t>
            </a:r>
            <a:endParaRPr lang="en-US" sz="1400" dirty="0">
              <a:latin typeface="Gill Sans MT" panose="020B0502020104020203" pitchFamily="34" charset="0"/>
            </a:endParaRPr>
          </a:p>
          <a:p>
            <a:pPr marL="177800" indent="-177800">
              <a:spcAft>
                <a:spcPts val="800"/>
              </a:spcAft>
              <a:buSzPct val="100000"/>
              <a:buChar char="•"/>
            </a:pPr>
            <a:r>
              <a:rPr lang="en-US" sz="1400" dirty="0">
                <a:solidFill>
                  <a:srgbClr val="FFFFFF"/>
                </a:solidFill>
                <a:latin typeface="Gill Sans MT" panose="020B0502020104020203" pitchFamily="34" charset="0"/>
                <a:ea typeface="Calibri" pitchFamily="34" charset="-122"/>
                <a:cs typeface="Calibri" pitchFamily="34" charset="-120"/>
              </a:rPr>
              <a:t>Loan amount &amp; repayment term</a:t>
            </a:r>
            <a:endParaRPr lang="en-US" sz="1400" dirty="0">
              <a:latin typeface="Gill Sans MT" panose="020B0502020104020203" pitchFamily="34" charset="0"/>
            </a:endParaRPr>
          </a:p>
          <a:p>
            <a:pPr marL="177800" indent="-177800">
              <a:spcAft>
                <a:spcPts val="800"/>
              </a:spcAft>
              <a:buSzPct val="100000"/>
              <a:buChar char="•"/>
            </a:pPr>
            <a:r>
              <a:rPr lang="en-US" sz="1400" dirty="0">
                <a:solidFill>
                  <a:srgbClr val="FFFFFF"/>
                </a:solidFill>
                <a:latin typeface="Gill Sans MT" panose="020B0502020104020203" pitchFamily="34" charset="0"/>
                <a:ea typeface="Calibri" pitchFamily="34" charset="-122"/>
                <a:cs typeface="Calibri" pitchFamily="34" charset="-120"/>
              </a:rPr>
              <a:t>Property area (Urban / Semiurban / Rural)</a:t>
            </a:r>
            <a:endParaRPr lang="en-US" sz="1400" dirty="0">
              <a:latin typeface="Gill Sans MT" panose="020B0502020104020203" pitchFamily="34" charset="0"/>
            </a:endParaRPr>
          </a:p>
        </p:txBody>
      </p:sp>
      <p:sp>
        <p:nvSpPr>
          <p:cNvPr id="12" name="Shape 10"/>
          <p:cNvSpPr/>
          <p:nvPr/>
        </p:nvSpPr>
        <p:spPr>
          <a:xfrm>
            <a:off x="7772400" y="5349240"/>
            <a:ext cx="3566160" cy="0"/>
          </a:xfrm>
          <a:prstGeom prst="line">
            <a:avLst/>
          </a:prstGeom>
          <a:noFill/>
          <a:ln w="12700">
            <a:solidFill>
              <a:srgbClr val="3A4590"/>
            </a:solidFill>
            <a:prstDash val="solid"/>
          </a:ln>
        </p:spPr>
      </p:sp>
      <p:sp>
        <p:nvSpPr>
          <p:cNvPr id="13" name="Text 11"/>
          <p:cNvSpPr/>
          <p:nvPr/>
        </p:nvSpPr>
        <p:spPr>
          <a:xfrm>
            <a:off x="7510409" y="5372100"/>
            <a:ext cx="4221343" cy="640080"/>
          </a:xfrm>
          <a:prstGeom prst="rect">
            <a:avLst/>
          </a:prstGeom>
          <a:noFill/>
          <a:ln/>
        </p:spPr>
        <p:txBody>
          <a:bodyPr wrap="square" rtlCol="0" anchor="t"/>
          <a:lstStyle/>
          <a:p>
            <a:pPr marL="0" indent="0">
              <a:buNone/>
            </a:pPr>
            <a:r>
              <a:rPr lang="en-US" sz="1400" i="1" dirty="0">
                <a:solidFill>
                  <a:srgbClr val="AEB8E0"/>
                </a:solidFill>
                <a:latin typeface="Gill Sans MT" panose="020B0502020104020203" pitchFamily="34" charset="0"/>
                <a:ea typeface="Calibri" pitchFamily="34" charset="-122"/>
                <a:cs typeface="Calibri" pitchFamily="34" charset="-120"/>
              </a:rPr>
              <a:t>~8% of records were missing Credit History; incomplete rows were excluded rather than imputed to avoid distorting the observed pool</a:t>
            </a:r>
            <a:r>
              <a:rPr lang="en-US" sz="1200" i="1" dirty="0">
                <a:solidFill>
                  <a:srgbClr val="AEB8E0"/>
                </a:solidFill>
                <a:latin typeface="Gill Sans MT" panose="020B0502020104020203" pitchFamily="34" charset="0"/>
                <a:ea typeface="Calibri" pitchFamily="34" charset="-122"/>
                <a:cs typeface="Calibri" pitchFamily="34" charset="-120"/>
              </a:rPr>
              <a:t>.</a:t>
            </a:r>
            <a:endParaRPr lang="en-US" sz="1200" dirty="0">
              <a:latin typeface="Gill Sans MT" panose="020B0502020104020203" pitchFamily="34" charset="0"/>
            </a:endParaRPr>
          </a:p>
        </p:txBody>
      </p:sp>
      <p:sp>
        <p:nvSpPr>
          <p:cNvPr id="14" name="Text 12"/>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6B7280"/>
                </a:solidFill>
                <a:latin typeface="Gill Sans MT" panose="020B0502020104020203" pitchFamily="34" charset="0"/>
                <a:ea typeface="Calibri" pitchFamily="34" charset="-122"/>
                <a:cs typeface="Calibri" pitchFamily="34" charset="-120"/>
              </a:rPr>
              <a:t>Creditly Applicant Pool Analysis  |  LoanPay Risk &amp; Marketing</a:t>
            </a:r>
            <a:endParaRPr lang="en-US" sz="900" dirty="0">
              <a:latin typeface="Gill Sans MT" panose="020B0502020104020203" pitchFamily="34" charset="0"/>
            </a:endParaRPr>
          </a:p>
        </p:txBody>
      </p:sp>
      <p:sp>
        <p:nvSpPr>
          <p:cNvPr id="15" name="Text 13"/>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7280"/>
                </a:solidFill>
                <a:latin typeface="Gill Sans MT" panose="020B0502020104020203" pitchFamily="34" charset="0"/>
                <a:ea typeface="Calibri" pitchFamily="34" charset="-122"/>
                <a:cs typeface="Calibri" pitchFamily="34" charset="-120"/>
              </a:rPr>
              <a:t>2</a:t>
            </a:r>
            <a:endParaRPr lang="en-US" sz="900" dirty="0">
              <a:latin typeface="Gill Sans MT" panose="020B05020201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320040"/>
          </a:xfrm>
          <a:prstGeom prst="rect">
            <a:avLst/>
          </a:prstGeom>
          <a:noFill/>
          <a:ln/>
        </p:spPr>
        <p:txBody>
          <a:bodyPr wrap="square" rtlCol="0" anchor="ctr"/>
          <a:lstStyle/>
          <a:p>
            <a:pPr marL="0" indent="0">
              <a:buNone/>
            </a:pPr>
            <a:r>
              <a:rPr lang="en-US" sz="1400" b="1" kern="0" spc="200" dirty="0">
                <a:solidFill>
                  <a:srgbClr val="0F766E"/>
                </a:solidFill>
                <a:latin typeface="Gill Sans MT" panose="020B0502020104020203" pitchFamily="34" charset="0"/>
                <a:ea typeface="Calibri" pitchFamily="34" charset="-122"/>
                <a:cs typeface="Calibri" pitchFamily="34" charset="-120"/>
              </a:rPr>
              <a:t>SECTION 1 · OVERALL CREDIT QUALITY</a:t>
            </a:r>
            <a:endParaRPr lang="en-US" sz="1400" dirty="0">
              <a:latin typeface="Gill Sans MT" panose="020B0502020104020203" pitchFamily="34" charset="0"/>
            </a:endParaRPr>
          </a:p>
        </p:txBody>
      </p:sp>
      <p:sp>
        <p:nvSpPr>
          <p:cNvPr id="3" name="Text 1"/>
          <p:cNvSpPr/>
          <p:nvPr/>
        </p:nvSpPr>
        <p:spPr>
          <a:xfrm>
            <a:off x="457200" y="594360"/>
            <a:ext cx="11247120" cy="640080"/>
          </a:xfrm>
          <a:prstGeom prst="rect">
            <a:avLst/>
          </a:prstGeom>
          <a:noFill/>
          <a:ln/>
        </p:spPr>
        <p:txBody>
          <a:bodyPr wrap="square" rtlCol="0" anchor="ctr"/>
          <a:lstStyle/>
          <a:p>
            <a:pPr marL="0" indent="0" algn="l">
              <a:buNone/>
            </a:pPr>
            <a:r>
              <a:rPr lang="en-US" sz="2800" b="1" dirty="0">
                <a:solidFill>
                  <a:srgbClr val="1E2761"/>
                </a:solidFill>
                <a:latin typeface="Gill Sans MT" panose="020B0502020104020203" pitchFamily="34" charset="0"/>
                <a:ea typeface="Cambria" pitchFamily="34" charset="-122"/>
                <a:cs typeface="Cambria" pitchFamily="34" charset="-120"/>
              </a:rPr>
              <a:t>The Pool Skews Strongly Toward Good Credit</a:t>
            </a:r>
            <a:endParaRPr lang="en-US" sz="2800" dirty="0">
              <a:latin typeface="Gill Sans MT" panose="020B0502020104020203" pitchFamily="34" charset="0"/>
            </a:endParaRPr>
          </a:p>
        </p:txBody>
      </p:sp>
      <p:graphicFrame>
        <p:nvGraphicFramePr>
          <p:cNvPr id="4" name="Chart 0"/>
          <p:cNvGraphicFramePr/>
          <p:nvPr>
            <p:extLst>
              <p:ext uri="{D42A27DB-BD31-4B8C-83A1-F6EECF244321}">
                <p14:modId xmlns:p14="http://schemas.microsoft.com/office/powerpoint/2010/main" val="2114700763"/>
              </p:ext>
            </p:extLst>
          </p:nvPr>
        </p:nvGraphicFramePr>
        <p:xfrm>
          <a:off x="365760" y="1417320"/>
          <a:ext cx="4846320" cy="3931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3293413603"/>
              </p:ext>
            </p:extLst>
          </p:nvPr>
        </p:nvGraphicFramePr>
        <p:xfrm>
          <a:off x="5486400" y="1600200"/>
          <a:ext cx="6217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486400" y="4160520"/>
            <a:ext cx="6245352" cy="1234440"/>
          </a:xfrm>
          <a:prstGeom prst="roundRect">
            <a:avLst>
              <a:gd name="adj" fmla="val 4444"/>
            </a:avLst>
          </a:prstGeom>
          <a:solidFill>
            <a:srgbClr val="F5F7FC"/>
          </a:solidFill>
          <a:ln w="12700">
            <a:solidFill>
              <a:srgbClr val="DCE3F5"/>
            </a:solidFill>
            <a:prstDash val="solid"/>
          </a:ln>
        </p:spPr>
      </p:sp>
      <p:sp>
        <p:nvSpPr>
          <p:cNvPr id="7" name="Text 3"/>
          <p:cNvSpPr/>
          <p:nvPr/>
        </p:nvSpPr>
        <p:spPr>
          <a:xfrm>
            <a:off x="5779008" y="4448556"/>
            <a:ext cx="5788152" cy="809244"/>
          </a:xfrm>
          <a:prstGeom prst="rect">
            <a:avLst/>
          </a:prstGeom>
          <a:noFill/>
          <a:ln/>
        </p:spPr>
        <p:txBody>
          <a:bodyPr wrap="square" rtlCol="0" anchor="t"/>
          <a:lstStyle/>
          <a:p>
            <a:pPr marL="0" indent="0">
              <a:buNone/>
            </a:pPr>
            <a:r>
              <a:rPr lang="en-US" sz="1400" b="1" dirty="0">
                <a:solidFill>
                  <a:srgbClr val="0F766E"/>
                </a:solidFill>
                <a:latin typeface="Gill Sans MT" panose="020B0502020104020203" pitchFamily="34" charset="0"/>
                <a:ea typeface="Calibri" pitchFamily="34" charset="-122"/>
                <a:cs typeface="Calibri" pitchFamily="34" charset="-120"/>
              </a:rPr>
              <a:t>INSIGHT   </a:t>
            </a:r>
            <a:r>
              <a:rPr lang="en-US" sz="1400" dirty="0">
                <a:solidFill>
                  <a:srgbClr val="1A1A2E"/>
                </a:solidFill>
                <a:latin typeface="Gill Sans MT" panose="020B0502020104020203" pitchFamily="34" charset="0"/>
                <a:ea typeface="Calibri" pitchFamily="34" charset="-122"/>
                <a:cs typeface="Calibri" pitchFamily="34" charset="-120"/>
              </a:rPr>
              <a:t>The team projected at least 80% good-credit history going in. The pool landed at </a:t>
            </a:r>
            <a:r>
              <a:rPr lang="en-US" sz="1400" dirty="0">
                <a:solidFill>
                  <a:srgbClr val="0F766E"/>
                </a:solidFill>
                <a:latin typeface="Gill Sans MT" panose="020B0502020104020203" pitchFamily="34" charset="0"/>
                <a:ea typeface="Calibri" pitchFamily="34" charset="-122"/>
                <a:cs typeface="Calibri" pitchFamily="34" charset="-120"/>
              </a:rPr>
              <a:t>83.6% </a:t>
            </a:r>
            <a:r>
              <a:rPr lang="en-US" sz="1400" dirty="0">
                <a:solidFill>
                  <a:srgbClr val="1A1A2E"/>
                </a:solidFill>
                <a:latin typeface="Gill Sans MT" panose="020B0502020104020203" pitchFamily="34" charset="0"/>
                <a:ea typeface="Calibri" pitchFamily="34" charset="-122"/>
                <a:cs typeface="Calibri" pitchFamily="34" charset="-120"/>
              </a:rPr>
              <a:t>— beating the benchmark by roughly 3.6 points, with </a:t>
            </a:r>
            <a:r>
              <a:rPr lang="en-US" sz="1400" dirty="0">
                <a:solidFill>
                  <a:srgbClr val="C00000"/>
                </a:solidFill>
                <a:latin typeface="Gill Sans MT" panose="020B0502020104020203" pitchFamily="34" charset="0"/>
                <a:ea typeface="Calibri" pitchFamily="34" charset="-122"/>
                <a:cs typeface="Calibri" pitchFamily="34" charset="-120"/>
              </a:rPr>
              <a:t>16.4% </a:t>
            </a:r>
            <a:r>
              <a:rPr lang="en-US" sz="1400" dirty="0">
                <a:solidFill>
                  <a:srgbClr val="1A1A2E"/>
                </a:solidFill>
                <a:latin typeface="Gill Sans MT" panose="020B0502020104020203" pitchFamily="34" charset="0"/>
                <a:ea typeface="Calibri" pitchFamily="34" charset="-122"/>
                <a:cs typeface="Calibri" pitchFamily="34" charset="-120"/>
              </a:rPr>
              <a:t>flagged bad credit.</a:t>
            </a:r>
            <a:endParaRPr lang="en-US" sz="1400" dirty="0">
              <a:latin typeface="Gill Sans MT" panose="020B0502020104020203" pitchFamily="34" charset="0"/>
            </a:endParaRPr>
          </a:p>
        </p:txBody>
      </p:sp>
      <p:sp>
        <p:nvSpPr>
          <p:cNvPr id="8" name="Shape 4"/>
          <p:cNvSpPr/>
          <p:nvPr/>
        </p:nvSpPr>
        <p:spPr>
          <a:xfrm>
            <a:off x="457200" y="5486400"/>
            <a:ext cx="11274552" cy="868680"/>
          </a:xfrm>
          <a:prstGeom prst="roundRect">
            <a:avLst>
              <a:gd name="adj" fmla="val 8421"/>
            </a:avLst>
          </a:prstGeom>
          <a:solidFill>
            <a:srgbClr val="1E2761"/>
          </a:solidFill>
          <a:ln/>
        </p:spPr>
      </p:sp>
      <p:sp>
        <p:nvSpPr>
          <p:cNvPr id="9" name="Text 5"/>
          <p:cNvSpPr/>
          <p:nvPr/>
        </p:nvSpPr>
        <p:spPr>
          <a:xfrm>
            <a:off x="685800" y="5577840"/>
            <a:ext cx="2286000" cy="256032"/>
          </a:xfrm>
          <a:prstGeom prst="rect">
            <a:avLst/>
          </a:prstGeom>
          <a:noFill/>
          <a:ln/>
        </p:spPr>
        <p:txBody>
          <a:bodyPr wrap="square" rtlCol="0" anchor="ctr"/>
          <a:lstStyle/>
          <a:p>
            <a:pPr marL="0" indent="0">
              <a:buNone/>
            </a:pPr>
            <a:endParaRPr lang="en-US" sz="1050" dirty="0">
              <a:latin typeface="Gill Sans MT" panose="020B0502020104020203" pitchFamily="34" charset="0"/>
            </a:endParaRPr>
          </a:p>
        </p:txBody>
      </p:sp>
      <p:sp>
        <p:nvSpPr>
          <p:cNvPr id="10" name="Text 6"/>
          <p:cNvSpPr/>
          <p:nvPr/>
        </p:nvSpPr>
        <p:spPr>
          <a:xfrm>
            <a:off x="685800" y="5679965"/>
            <a:ext cx="10881360" cy="466344"/>
          </a:xfrm>
          <a:prstGeom prst="rect">
            <a:avLst/>
          </a:prstGeom>
          <a:noFill/>
          <a:ln/>
        </p:spPr>
        <p:txBody>
          <a:bodyPr wrap="square" rtlCol="0" anchor="t"/>
          <a:lstStyle/>
          <a:p>
            <a:pPr marL="0" indent="0" algn="l">
              <a:buNone/>
            </a:pPr>
            <a:r>
              <a:rPr lang="en-US" sz="1400" dirty="0">
                <a:solidFill>
                  <a:srgbClr val="FFFFFF"/>
                </a:solidFill>
                <a:latin typeface="Gill Sans MT" panose="020B0502020104020203" pitchFamily="34" charset="0"/>
                <a:ea typeface="Calibri" pitchFamily="34" charset="-122"/>
                <a:cs typeface="Calibri" pitchFamily="34" charset="-120"/>
              </a:rPr>
              <a:t>The overall pool is healthy and beat the risk benchmark the campaign was targeting. This supports continuing to invest in the current campaign and channels rather than pausing spend on quality grounds.</a:t>
            </a:r>
            <a:endParaRPr lang="en-US" sz="1400" dirty="0">
              <a:latin typeface="Gill Sans MT" panose="020B0502020104020203" pitchFamily="34" charset="0"/>
            </a:endParaRPr>
          </a:p>
        </p:txBody>
      </p:sp>
      <p:sp>
        <p:nvSpPr>
          <p:cNvPr id="11" name="Text 7"/>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6B7280"/>
                </a:solidFill>
                <a:latin typeface="Gill Sans MT" panose="020B0502020104020203" pitchFamily="34" charset="0"/>
                <a:ea typeface="Calibri" pitchFamily="34" charset="-122"/>
                <a:cs typeface="Calibri" pitchFamily="34" charset="-120"/>
              </a:rPr>
              <a:t>Creditly Applicant Pool Analysis  |  LoanPay Risk &amp; Marketing</a:t>
            </a:r>
            <a:endParaRPr lang="en-US" sz="900" dirty="0">
              <a:latin typeface="Gill Sans MT" panose="020B0502020104020203" pitchFamily="34" charset="0"/>
            </a:endParaRPr>
          </a:p>
        </p:txBody>
      </p:sp>
      <p:sp>
        <p:nvSpPr>
          <p:cNvPr id="12" name="Text 8"/>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7280"/>
                </a:solidFill>
                <a:latin typeface="Gill Sans MT" panose="020B0502020104020203" pitchFamily="34" charset="0"/>
                <a:ea typeface="Calibri" pitchFamily="34" charset="-122"/>
                <a:cs typeface="Calibri" pitchFamily="34" charset="-120"/>
              </a:rPr>
              <a:t>3</a:t>
            </a:r>
            <a:endParaRPr lang="en-US" sz="900" dirty="0">
              <a:latin typeface="Gill Sans MT" panose="020B05020201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320040"/>
          </a:xfrm>
          <a:prstGeom prst="rect">
            <a:avLst/>
          </a:prstGeom>
          <a:noFill/>
          <a:ln/>
        </p:spPr>
        <p:txBody>
          <a:bodyPr wrap="square" rtlCol="0" anchor="ctr"/>
          <a:lstStyle/>
          <a:p>
            <a:pPr marL="0" indent="0">
              <a:buNone/>
            </a:pPr>
            <a:r>
              <a:rPr lang="en-US" sz="1400" b="1" kern="0" spc="200" dirty="0">
                <a:solidFill>
                  <a:srgbClr val="0F766E"/>
                </a:solidFill>
                <a:latin typeface="Gill Sans MT" panose="020B0502020104020203" pitchFamily="34" charset="0"/>
                <a:ea typeface="Calibri" pitchFamily="34" charset="-122"/>
                <a:cs typeface="Calibri" pitchFamily="34" charset="-120"/>
              </a:rPr>
              <a:t>SECTION 2 · WHO DID THE CAMPAIGN ATTRACT?</a:t>
            </a:r>
            <a:endParaRPr lang="en-US" sz="1400" dirty="0">
              <a:latin typeface="Gill Sans MT" panose="020B0502020104020203" pitchFamily="34" charset="0"/>
            </a:endParaRPr>
          </a:p>
        </p:txBody>
      </p:sp>
      <p:sp>
        <p:nvSpPr>
          <p:cNvPr id="3" name="Text 1"/>
          <p:cNvSpPr/>
          <p:nvPr/>
        </p:nvSpPr>
        <p:spPr>
          <a:xfrm>
            <a:off x="457200" y="594360"/>
            <a:ext cx="11247120" cy="640080"/>
          </a:xfrm>
          <a:prstGeom prst="rect">
            <a:avLst/>
          </a:prstGeom>
          <a:noFill/>
          <a:ln/>
        </p:spPr>
        <p:txBody>
          <a:bodyPr wrap="square" rtlCol="0" anchor="ctr"/>
          <a:lstStyle/>
          <a:p>
            <a:pPr marL="0" indent="0" algn="l">
              <a:buNone/>
            </a:pPr>
            <a:r>
              <a:rPr lang="en-US" sz="2800" b="1" dirty="0">
                <a:solidFill>
                  <a:srgbClr val="1E2761"/>
                </a:solidFill>
                <a:latin typeface="Gill Sans MT" panose="020B0502020104020203" pitchFamily="34" charset="0"/>
                <a:ea typeface="Cambria" pitchFamily="34" charset="-122"/>
                <a:cs typeface="Cambria" pitchFamily="34" charset="-120"/>
              </a:rPr>
              <a:t>A Married, Graduate, Salaried, Male-Leaning Pool</a:t>
            </a:r>
            <a:endParaRPr lang="en-US" sz="2800" dirty="0">
              <a:latin typeface="Gill Sans MT" panose="020B0502020104020203" pitchFamily="34" charset="0"/>
            </a:endParaRPr>
          </a:p>
        </p:txBody>
      </p:sp>
      <p:graphicFrame>
        <p:nvGraphicFramePr>
          <p:cNvPr id="4" name="Chart 0"/>
          <p:cNvGraphicFramePr/>
          <p:nvPr>
            <p:extLst>
              <p:ext uri="{D42A27DB-BD31-4B8C-83A1-F6EECF244321}">
                <p14:modId xmlns:p14="http://schemas.microsoft.com/office/powerpoint/2010/main" val="3747454789"/>
              </p:ext>
            </p:extLst>
          </p:nvPr>
        </p:nvGraphicFramePr>
        <p:xfrm>
          <a:off x="457200" y="1371600"/>
          <a:ext cx="5349240" cy="2148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3172195481"/>
              </p:ext>
            </p:extLst>
          </p:nvPr>
        </p:nvGraphicFramePr>
        <p:xfrm>
          <a:off x="6035040" y="1371600"/>
          <a:ext cx="5349240" cy="21488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extLst>
              <p:ext uri="{D42A27DB-BD31-4B8C-83A1-F6EECF244321}">
                <p14:modId xmlns:p14="http://schemas.microsoft.com/office/powerpoint/2010/main" val="187452250"/>
              </p:ext>
            </p:extLst>
          </p:nvPr>
        </p:nvGraphicFramePr>
        <p:xfrm>
          <a:off x="457200" y="3657600"/>
          <a:ext cx="5349240" cy="21488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3"/>
          <p:cNvGraphicFramePr/>
          <p:nvPr>
            <p:extLst>
              <p:ext uri="{D42A27DB-BD31-4B8C-83A1-F6EECF244321}">
                <p14:modId xmlns:p14="http://schemas.microsoft.com/office/powerpoint/2010/main" val="1647560285"/>
              </p:ext>
            </p:extLst>
          </p:nvPr>
        </p:nvGraphicFramePr>
        <p:xfrm>
          <a:off x="6035040" y="3657600"/>
          <a:ext cx="5349240" cy="2148840"/>
        </p:xfrm>
        <a:graphic>
          <a:graphicData uri="http://schemas.openxmlformats.org/drawingml/2006/chart">
            <c:chart xmlns:c="http://schemas.openxmlformats.org/drawingml/2006/chart" xmlns:r="http://schemas.openxmlformats.org/officeDocument/2006/relationships" r:id="rId6"/>
          </a:graphicData>
        </a:graphic>
      </p:graphicFrame>
      <p:sp>
        <p:nvSpPr>
          <p:cNvPr id="8" name="Text 2"/>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6B7280"/>
                </a:solidFill>
                <a:latin typeface="Gill Sans MT" panose="020B0502020104020203" pitchFamily="34" charset="0"/>
                <a:ea typeface="Calibri" pitchFamily="34" charset="-122"/>
                <a:cs typeface="Calibri" pitchFamily="34" charset="-120"/>
              </a:rPr>
              <a:t>Creditly Applicant Pool Analysis  |  LoanPay Risk &amp; Marketing</a:t>
            </a:r>
            <a:endParaRPr lang="en-US" sz="900" dirty="0">
              <a:latin typeface="Gill Sans MT" panose="020B0502020104020203" pitchFamily="34" charset="0"/>
            </a:endParaRPr>
          </a:p>
        </p:txBody>
      </p:sp>
      <p:sp>
        <p:nvSpPr>
          <p:cNvPr id="9" name="Text 3"/>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7280"/>
                </a:solidFill>
                <a:latin typeface="Gill Sans MT" panose="020B0502020104020203" pitchFamily="34" charset="0"/>
                <a:ea typeface="Calibri" pitchFamily="34" charset="-122"/>
                <a:cs typeface="Calibri" pitchFamily="34" charset="-120"/>
              </a:rPr>
              <a:t>4</a:t>
            </a:r>
            <a:endParaRPr lang="en-US" sz="900" dirty="0">
              <a:latin typeface="Gill Sans MT" panose="020B05020201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320040"/>
          </a:xfrm>
          <a:prstGeom prst="rect">
            <a:avLst/>
          </a:prstGeom>
          <a:noFill/>
          <a:ln/>
        </p:spPr>
        <p:txBody>
          <a:bodyPr wrap="square" rtlCol="0" anchor="ctr"/>
          <a:lstStyle/>
          <a:p>
            <a:pPr marL="0" indent="0">
              <a:buNone/>
            </a:pPr>
            <a:r>
              <a:rPr lang="en-US" sz="1400" b="1" kern="0" spc="200" dirty="0">
                <a:solidFill>
                  <a:srgbClr val="0F766E"/>
                </a:solidFill>
                <a:latin typeface="Gill Sans MT" panose="020B0502020104020203" pitchFamily="34" charset="0"/>
                <a:ea typeface="Calibri" pitchFamily="34" charset="-122"/>
                <a:cs typeface="Calibri" pitchFamily="34" charset="-120"/>
              </a:rPr>
              <a:t>SECTION 2 · SEGMENT CREDIT RISK</a:t>
            </a:r>
            <a:endParaRPr lang="en-US" sz="1400" dirty="0">
              <a:latin typeface="Gill Sans MT" panose="020B0502020104020203" pitchFamily="34" charset="0"/>
            </a:endParaRPr>
          </a:p>
        </p:txBody>
      </p:sp>
      <p:sp>
        <p:nvSpPr>
          <p:cNvPr id="3" name="Text 1"/>
          <p:cNvSpPr/>
          <p:nvPr/>
        </p:nvSpPr>
        <p:spPr>
          <a:xfrm>
            <a:off x="457200" y="594360"/>
            <a:ext cx="11247120" cy="640080"/>
          </a:xfrm>
          <a:prstGeom prst="rect">
            <a:avLst/>
          </a:prstGeom>
          <a:noFill/>
          <a:ln/>
        </p:spPr>
        <p:txBody>
          <a:bodyPr wrap="square" rtlCol="0" anchor="ctr"/>
          <a:lstStyle/>
          <a:p>
            <a:pPr marL="0" indent="0" algn="l">
              <a:buNone/>
            </a:pPr>
            <a:r>
              <a:rPr lang="en-US" sz="2800" b="1" dirty="0">
                <a:solidFill>
                  <a:srgbClr val="1E2761"/>
                </a:solidFill>
                <a:latin typeface="Gill Sans MT" panose="020B0502020104020203" pitchFamily="34" charset="0"/>
                <a:ea typeface="Cambria" pitchFamily="34" charset="-122"/>
                <a:cs typeface="Cambria" pitchFamily="34" charset="-120"/>
              </a:rPr>
              <a:t>Two Segments Skew Above the 16.4% Risk Baseline</a:t>
            </a:r>
            <a:endParaRPr lang="en-US" sz="2800" dirty="0">
              <a:latin typeface="Gill Sans MT" panose="020B0502020104020203" pitchFamily="34" charset="0"/>
            </a:endParaRPr>
          </a:p>
        </p:txBody>
      </p:sp>
      <p:graphicFrame>
        <p:nvGraphicFramePr>
          <p:cNvPr id="4" name="Chart 0"/>
          <p:cNvGraphicFramePr/>
          <p:nvPr>
            <p:extLst>
              <p:ext uri="{D42A27DB-BD31-4B8C-83A1-F6EECF244321}">
                <p14:modId xmlns:p14="http://schemas.microsoft.com/office/powerpoint/2010/main" val="370230888"/>
              </p:ext>
            </p:extLst>
          </p:nvPr>
        </p:nvGraphicFramePr>
        <p:xfrm>
          <a:off x="457200" y="1325880"/>
          <a:ext cx="5349240" cy="2011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2211859858"/>
              </p:ext>
            </p:extLst>
          </p:nvPr>
        </p:nvGraphicFramePr>
        <p:xfrm>
          <a:off x="6035040" y="1325880"/>
          <a:ext cx="5349240" cy="20116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extLst>
              <p:ext uri="{D42A27DB-BD31-4B8C-83A1-F6EECF244321}">
                <p14:modId xmlns:p14="http://schemas.microsoft.com/office/powerpoint/2010/main" val="1291692481"/>
              </p:ext>
            </p:extLst>
          </p:nvPr>
        </p:nvGraphicFramePr>
        <p:xfrm>
          <a:off x="457200" y="3520440"/>
          <a:ext cx="5349240" cy="20116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3"/>
          <p:cNvGraphicFramePr/>
          <p:nvPr>
            <p:extLst>
              <p:ext uri="{D42A27DB-BD31-4B8C-83A1-F6EECF244321}">
                <p14:modId xmlns:p14="http://schemas.microsoft.com/office/powerpoint/2010/main" val="3543162172"/>
              </p:ext>
            </p:extLst>
          </p:nvPr>
        </p:nvGraphicFramePr>
        <p:xfrm>
          <a:off x="6035040" y="3520440"/>
          <a:ext cx="5349240" cy="2011680"/>
        </p:xfrm>
        <a:graphic>
          <a:graphicData uri="http://schemas.openxmlformats.org/drawingml/2006/chart">
            <c:chart xmlns:c="http://schemas.openxmlformats.org/drawingml/2006/chart" xmlns:r="http://schemas.openxmlformats.org/officeDocument/2006/relationships" r:id="rId6"/>
          </a:graphicData>
        </a:graphic>
      </p:graphicFrame>
      <p:sp>
        <p:nvSpPr>
          <p:cNvPr id="8" name="Shape 2"/>
          <p:cNvSpPr/>
          <p:nvPr/>
        </p:nvSpPr>
        <p:spPr>
          <a:xfrm>
            <a:off x="457200" y="5623560"/>
            <a:ext cx="11247120" cy="914400"/>
          </a:xfrm>
          <a:prstGeom prst="roundRect">
            <a:avLst>
              <a:gd name="adj" fmla="val 6000"/>
            </a:avLst>
          </a:prstGeom>
          <a:solidFill>
            <a:srgbClr val="F5F7FC"/>
          </a:solidFill>
          <a:ln w="12700">
            <a:solidFill>
              <a:srgbClr val="DCE3F5"/>
            </a:solidFill>
            <a:prstDash val="solid"/>
          </a:ln>
        </p:spPr>
      </p:sp>
      <p:sp>
        <p:nvSpPr>
          <p:cNvPr id="9" name="Text 3"/>
          <p:cNvSpPr/>
          <p:nvPr/>
        </p:nvSpPr>
        <p:spPr>
          <a:xfrm>
            <a:off x="685800" y="5733288"/>
            <a:ext cx="10789920" cy="694944"/>
          </a:xfrm>
          <a:prstGeom prst="rect">
            <a:avLst/>
          </a:prstGeom>
          <a:noFill/>
          <a:ln/>
        </p:spPr>
        <p:txBody>
          <a:bodyPr wrap="square" rtlCol="0" anchor="t"/>
          <a:lstStyle/>
          <a:p>
            <a:pPr marL="0" indent="0">
              <a:buNone/>
            </a:pPr>
            <a:r>
              <a:rPr lang="en-US" sz="1500" b="1" dirty="0">
                <a:solidFill>
                  <a:srgbClr val="0F766E"/>
                </a:solidFill>
                <a:latin typeface="Gill Sans MT" panose="020B0502020104020203" pitchFamily="34" charset="0"/>
                <a:ea typeface="Calibri" pitchFamily="34" charset="-122"/>
                <a:cs typeface="Calibri" pitchFamily="34" charset="-120"/>
              </a:rPr>
              <a:t>INSIGHT   </a:t>
            </a:r>
            <a:r>
              <a:rPr lang="en-US" sz="1500" dirty="0">
                <a:solidFill>
                  <a:srgbClr val="1A1A2E"/>
                </a:solidFill>
                <a:latin typeface="Gill Sans MT" panose="020B0502020104020203" pitchFamily="34" charset="0"/>
                <a:ea typeface="Calibri" pitchFamily="34" charset="-122"/>
                <a:cs typeface="Calibri" pitchFamily="34" charset="-120"/>
              </a:rPr>
              <a:t>Not-Graduate applicants (21% bad credit) and applicants with unidentified gender (22%, n=24) sit above the 16.4% pool average. Marital status and self-employment barely move the needle — salaried, married, and self-employed applicants all track close to the overall mix.</a:t>
            </a:r>
            <a:endParaRPr lang="en-US" sz="1500" dirty="0">
              <a:latin typeface="Gill Sans MT" panose="020B0502020104020203" pitchFamily="34" charset="0"/>
            </a:endParaRPr>
          </a:p>
        </p:txBody>
      </p:sp>
      <p:sp>
        <p:nvSpPr>
          <p:cNvPr id="10" name="Text 4"/>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6B7280"/>
                </a:solidFill>
                <a:latin typeface="Gill Sans MT" panose="020B0502020104020203" pitchFamily="34" charset="0"/>
                <a:ea typeface="Calibri" pitchFamily="34" charset="-122"/>
                <a:cs typeface="Calibri" pitchFamily="34" charset="-120"/>
              </a:rPr>
              <a:t>Creditly Applicant Pool Analysis  |  LoanPay Risk &amp; Marketing</a:t>
            </a:r>
            <a:endParaRPr lang="en-US" sz="900" dirty="0">
              <a:latin typeface="Gill Sans MT" panose="020B0502020104020203" pitchFamily="34" charset="0"/>
            </a:endParaRPr>
          </a:p>
        </p:txBody>
      </p:sp>
      <p:sp>
        <p:nvSpPr>
          <p:cNvPr id="11" name="Text 5"/>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7280"/>
                </a:solidFill>
                <a:latin typeface="Gill Sans MT" panose="020B0502020104020203" pitchFamily="34" charset="0"/>
                <a:ea typeface="Calibri" pitchFamily="34" charset="-122"/>
                <a:cs typeface="Calibri" pitchFamily="34" charset="-120"/>
              </a:rPr>
              <a:t>5</a:t>
            </a:r>
            <a:endParaRPr lang="en-US" sz="900" dirty="0">
              <a:latin typeface="Gill Sans MT" panose="020B050202010402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320040"/>
          </a:xfrm>
          <a:prstGeom prst="rect">
            <a:avLst/>
          </a:prstGeom>
          <a:noFill/>
          <a:ln/>
        </p:spPr>
        <p:txBody>
          <a:bodyPr wrap="square" rtlCol="0" anchor="ctr"/>
          <a:lstStyle/>
          <a:p>
            <a:pPr marL="0" indent="0">
              <a:buNone/>
            </a:pPr>
            <a:r>
              <a:rPr lang="en-US" sz="1400" b="1" kern="0" spc="200" dirty="0">
                <a:solidFill>
                  <a:srgbClr val="0F766E"/>
                </a:solidFill>
                <a:latin typeface="Gill Sans MT" panose="020B0502020104020203" pitchFamily="34" charset="0"/>
                <a:ea typeface="Calibri" pitchFamily="34" charset="-122"/>
                <a:cs typeface="Calibri" pitchFamily="34" charset="-120"/>
              </a:rPr>
              <a:t>SECTION 3 · GEOGRAPHIC COMPOSITION</a:t>
            </a:r>
            <a:endParaRPr lang="en-US" sz="1400" dirty="0">
              <a:latin typeface="Gill Sans MT" panose="020B0502020104020203" pitchFamily="34" charset="0"/>
            </a:endParaRPr>
          </a:p>
        </p:txBody>
      </p:sp>
      <p:sp>
        <p:nvSpPr>
          <p:cNvPr id="3" name="Text 1"/>
          <p:cNvSpPr/>
          <p:nvPr/>
        </p:nvSpPr>
        <p:spPr>
          <a:xfrm>
            <a:off x="457200" y="594360"/>
            <a:ext cx="11247120" cy="640080"/>
          </a:xfrm>
          <a:prstGeom prst="rect">
            <a:avLst/>
          </a:prstGeom>
          <a:noFill/>
          <a:ln/>
        </p:spPr>
        <p:txBody>
          <a:bodyPr wrap="square" rtlCol="0" anchor="ctr"/>
          <a:lstStyle/>
          <a:p>
            <a:pPr marL="0" indent="0" algn="l">
              <a:buNone/>
            </a:pPr>
            <a:r>
              <a:rPr lang="en-US" sz="2800" b="1" dirty="0">
                <a:solidFill>
                  <a:srgbClr val="1E2761"/>
                </a:solidFill>
                <a:latin typeface="Gill Sans MT" panose="020B0502020104020203" pitchFamily="34" charset="0"/>
                <a:ea typeface="Cambria" pitchFamily="34" charset="-122"/>
                <a:cs typeface="Cambria" pitchFamily="34" charset="-120"/>
              </a:rPr>
              <a:t>Applicants Are Spread Evenly And So Is Risk</a:t>
            </a:r>
            <a:endParaRPr lang="en-US" sz="2800" dirty="0">
              <a:latin typeface="Gill Sans MT" panose="020B0502020104020203" pitchFamily="34" charset="0"/>
            </a:endParaRPr>
          </a:p>
        </p:txBody>
      </p:sp>
      <p:graphicFrame>
        <p:nvGraphicFramePr>
          <p:cNvPr id="4" name="Chart 0"/>
          <p:cNvGraphicFramePr/>
          <p:nvPr>
            <p:extLst>
              <p:ext uri="{D42A27DB-BD31-4B8C-83A1-F6EECF244321}">
                <p14:modId xmlns:p14="http://schemas.microsoft.com/office/powerpoint/2010/main" val="834183595"/>
              </p:ext>
            </p:extLst>
          </p:nvPr>
        </p:nvGraphicFramePr>
        <p:xfrm>
          <a:off x="365760" y="1417320"/>
          <a:ext cx="5120640" cy="3931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2367029649"/>
              </p:ext>
            </p:extLst>
          </p:nvPr>
        </p:nvGraphicFramePr>
        <p:xfrm>
          <a:off x="5852160" y="1600200"/>
          <a:ext cx="58521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852160" y="4480560"/>
            <a:ext cx="5852160" cy="914400"/>
          </a:xfrm>
          <a:prstGeom prst="roundRect">
            <a:avLst>
              <a:gd name="adj" fmla="val 6000"/>
            </a:avLst>
          </a:prstGeom>
          <a:solidFill>
            <a:srgbClr val="F5F7FC"/>
          </a:solidFill>
          <a:ln w="12700">
            <a:solidFill>
              <a:srgbClr val="DCE3F5"/>
            </a:solidFill>
            <a:prstDash val="solid"/>
          </a:ln>
        </p:spPr>
      </p:sp>
      <p:sp>
        <p:nvSpPr>
          <p:cNvPr id="7" name="Text 3"/>
          <p:cNvSpPr/>
          <p:nvPr/>
        </p:nvSpPr>
        <p:spPr>
          <a:xfrm>
            <a:off x="6080760" y="4570870"/>
            <a:ext cx="5394960" cy="694944"/>
          </a:xfrm>
          <a:prstGeom prst="rect">
            <a:avLst/>
          </a:prstGeom>
          <a:noFill/>
          <a:ln/>
        </p:spPr>
        <p:txBody>
          <a:bodyPr wrap="square" rtlCol="0" anchor="t"/>
          <a:lstStyle/>
          <a:p>
            <a:pPr marL="0" indent="0">
              <a:buNone/>
            </a:pPr>
            <a:r>
              <a:rPr lang="en-US" sz="1400" b="1" dirty="0">
                <a:solidFill>
                  <a:srgbClr val="0F766E"/>
                </a:solidFill>
                <a:latin typeface="Gill Sans MT" panose="020B0502020104020203" pitchFamily="34" charset="0"/>
                <a:ea typeface="Calibri" pitchFamily="34" charset="-122"/>
                <a:cs typeface="Calibri" pitchFamily="34" charset="-120"/>
              </a:rPr>
              <a:t>INSIGHT   </a:t>
            </a:r>
            <a:r>
              <a:rPr lang="en-US" sz="1400" dirty="0">
                <a:solidFill>
                  <a:srgbClr val="1A1A2E"/>
                </a:solidFill>
                <a:latin typeface="Gill Sans MT" panose="020B0502020104020203" pitchFamily="34" charset="0"/>
                <a:ea typeface="Calibri" pitchFamily="34" charset="-122"/>
                <a:cs typeface="Calibri" pitchFamily="34" charset="-120"/>
              </a:rPr>
              <a:t>Semiurban (35.6%) and Urban (34.9%) applicants lead, with Rural close behind (29.6%). Good-credit share is nearly flat across regions (82–84%). Rural is only marginally riskier.</a:t>
            </a:r>
            <a:endParaRPr lang="en-US" sz="1400" dirty="0">
              <a:latin typeface="Gill Sans MT" panose="020B0502020104020203" pitchFamily="34" charset="0"/>
            </a:endParaRPr>
          </a:p>
        </p:txBody>
      </p:sp>
      <p:sp>
        <p:nvSpPr>
          <p:cNvPr id="8" name="Shape 4"/>
          <p:cNvSpPr/>
          <p:nvPr/>
        </p:nvSpPr>
        <p:spPr>
          <a:xfrm>
            <a:off x="457200" y="5486400"/>
            <a:ext cx="11274552" cy="868680"/>
          </a:xfrm>
          <a:prstGeom prst="roundRect">
            <a:avLst>
              <a:gd name="adj" fmla="val 8421"/>
            </a:avLst>
          </a:prstGeom>
          <a:solidFill>
            <a:srgbClr val="1E2761"/>
          </a:solidFill>
          <a:ln/>
        </p:spPr>
      </p:sp>
      <p:sp>
        <p:nvSpPr>
          <p:cNvPr id="9" name="Text 5"/>
          <p:cNvSpPr/>
          <p:nvPr/>
        </p:nvSpPr>
        <p:spPr>
          <a:xfrm>
            <a:off x="685800" y="5577840"/>
            <a:ext cx="2286000" cy="256032"/>
          </a:xfrm>
          <a:prstGeom prst="rect">
            <a:avLst/>
          </a:prstGeom>
          <a:noFill/>
          <a:ln/>
        </p:spPr>
        <p:txBody>
          <a:bodyPr wrap="square" rtlCol="0" anchor="ctr"/>
          <a:lstStyle/>
          <a:p>
            <a:pPr marL="0" indent="0">
              <a:buNone/>
            </a:pPr>
            <a:endParaRPr lang="en-US" sz="1050" dirty="0">
              <a:latin typeface="Gill Sans MT" panose="020B0502020104020203" pitchFamily="34" charset="0"/>
            </a:endParaRPr>
          </a:p>
        </p:txBody>
      </p:sp>
      <p:sp>
        <p:nvSpPr>
          <p:cNvPr id="10" name="Text 6"/>
          <p:cNvSpPr/>
          <p:nvPr/>
        </p:nvSpPr>
        <p:spPr>
          <a:xfrm>
            <a:off x="685800" y="5628132"/>
            <a:ext cx="10881360" cy="466344"/>
          </a:xfrm>
          <a:prstGeom prst="rect">
            <a:avLst/>
          </a:prstGeom>
          <a:noFill/>
          <a:ln/>
        </p:spPr>
        <p:txBody>
          <a:bodyPr wrap="square" rtlCol="0" anchor="t"/>
          <a:lstStyle/>
          <a:p>
            <a:pPr marL="0" indent="0" algn="l">
              <a:buNone/>
            </a:pPr>
            <a:r>
              <a:rPr lang="en-US" sz="1400" dirty="0">
                <a:solidFill>
                  <a:srgbClr val="FFFFFF"/>
                </a:solidFill>
                <a:latin typeface="Gill Sans MT" panose="020B0502020104020203" pitchFamily="34" charset="0"/>
                <a:ea typeface="Calibri" pitchFamily="34" charset="-122"/>
                <a:cs typeface="Calibri" pitchFamily="34" charset="-120"/>
              </a:rPr>
              <a:t>No region is disproportionately driving risk, so there is no case for geographic exclusions or a region-specific underwriting overlay. The campaign's broad geographic reach can continue as-is.</a:t>
            </a:r>
            <a:endParaRPr lang="en-US" sz="1400" dirty="0">
              <a:latin typeface="Gill Sans MT" panose="020B0502020104020203" pitchFamily="34" charset="0"/>
            </a:endParaRPr>
          </a:p>
        </p:txBody>
      </p:sp>
      <p:sp>
        <p:nvSpPr>
          <p:cNvPr id="11" name="Text 7"/>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6B7280"/>
                </a:solidFill>
                <a:latin typeface="Gill Sans MT" panose="020B0502020104020203" pitchFamily="34" charset="0"/>
                <a:ea typeface="Calibri" pitchFamily="34" charset="-122"/>
                <a:cs typeface="Calibri" pitchFamily="34" charset="-120"/>
              </a:rPr>
              <a:t>Creditly Applicant Pool Analysis  |  LoanPay Risk &amp; Marketing</a:t>
            </a:r>
            <a:endParaRPr lang="en-US" sz="900" dirty="0">
              <a:latin typeface="Gill Sans MT" panose="020B0502020104020203" pitchFamily="34" charset="0"/>
            </a:endParaRPr>
          </a:p>
        </p:txBody>
      </p:sp>
      <p:sp>
        <p:nvSpPr>
          <p:cNvPr id="12" name="Text 8"/>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7280"/>
                </a:solidFill>
                <a:latin typeface="Gill Sans MT" panose="020B0502020104020203" pitchFamily="34" charset="0"/>
                <a:ea typeface="Calibri" pitchFamily="34" charset="-122"/>
                <a:cs typeface="Calibri" pitchFamily="34" charset="-120"/>
              </a:rPr>
              <a:t>6</a:t>
            </a:r>
            <a:endParaRPr lang="en-US" sz="900" dirty="0">
              <a:latin typeface="Gill Sans MT" panose="020B05020201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320040"/>
          </a:xfrm>
          <a:prstGeom prst="rect">
            <a:avLst/>
          </a:prstGeom>
          <a:noFill/>
          <a:ln/>
        </p:spPr>
        <p:txBody>
          <a:bodyPr wrap="square" rtlCol="0" anchor="ctr"/>
          <a:lstStyle/>
          <a:p>
            <a:pPr marL="0" indent="0">
              <a:buNone/>
            </a:pPr>
            <a:r>
              <a:rPr lang="en-US" sz="1400" b="1" kern="0" spc="200" dirty="0">
                <a:solidFill>
                  <a:srgbClr val="0F766E"/>
                </a:solidFill>
                <a:latin typeface="Gill Sans MT" panose="020B0502020104020203" pitchFamily="34" charset="0"/>
                <a:ea typeface="Calibri" pitchFamily="34" charset="-122"/>
                <a:cs typeface="Calibri" pitchFamily="34" charset="-120"/>
              </a:rPr>
              <a:t>SECTION 4 · INCOME &amp; LOAN SIZING BEHAVIOR</a:t>
            </a:r>
            <a:endParaRPr lang="en-US" sz="1400" dirty="0">
              <a:latin typeface="Gill Sans MT" panose="020B0502020104020203" pitchFamily="34" charset="0"/>
            </a:endParaRPr>
          </a:p>
        </p:txBody>
      </p:sp>
      <p:sp>
        <p:nvSpPr>
          <p:cNvPr id="3" name="Text 1"/>
          <p:cNvSpPr/>
          <p:nvPr/>
        </p:nvSpPr>
        <p:spPr>
          <a:xfrm>
            <a:off x="457200" y="594360"/>
            <a:ext cx="11247120" cy="640080"/>
          </a:xfrm>
          <a:prstGeom prst="rect">
            <a:avLst/>
          </a:prstGeom>
          <a:noFill/>
          <a:ln/>
        </p:spPr>
        <p:txBody>
          <a:bodyPr wrap="square" rtlCol="0" anchor="ctr"/>
          <a:lstStyle/>
          <a:p>
            <a:pPr marL="0" indent="0" algn="l">
              <a:buNone/>
            </a:pPr>
            <a:r>
              <a:rPr lang="en-US" sz="2800" b="1" dirty="0">
                <a:solidFill>
                  <a:srgbClr val="1E2761"/>
                </a:solidFill>
                <a:latin typeface="Gill Sans MT" panose="020B0502020104020203" pitchFamily="34" charset="0"/>
                <a:ea typeface="Cambria" pitchFamily="34" charset="-122"/>
                <a:cs typeface="Cambria" pitchFamily="34" charset="-120"/>
              </a:rPr>
              <a:t>Income Alone Doesn't Separate Good From Bad Credit</a:t>
            </a:r>
            <a:endParaRPr lang="en-US" sz="2800" dirty="0">
              <a:latin typeface="Gill Sans MT" panose="020B0502020104020203" pitchFamily="34" charset="0"/>
            </a:endParaRPr>
          </a:p>
        </p:txBody>
      </p:sp>
      <p:pic>
        <p:nvPicPr>
          <p:cNvPr id="4" name="Image 0" descr="/home/claude/imgs/cell66_0.png"/>
          <p:cNvPicPr>
            <a:picLocks noChangeAspect="1"/>
          </p:cNvPicPr>
          <p:nvPr/>
        </p:nvPicPr>
        <p:blipFill>
          <a:blip r:embed="rId3"/>
          <a:stretch>
            <a:fillRect/>
          </a:stretch>
        </p:blipFill>
        <p:spPr>
          <a:xfrm>
            <a:off x="411480" y="1654653"/>
            <a:ext cx="7360920" cy="3108960"/>
          </a:xfrm>
          <a:prstGeom prst="rect">
            <a:avLst/>
          </a:prstGeom>
        </p:spPr>
      </p:pic>
      <p:graphicFrame>
        <p:nvGraphicFramePr>
          <p:cNvPr id="5" name="Chart 0"/>
          <p:cNvGraphicFramePr/>
          <p:nvPr>
            <p:extLst>
              <p:ext uri="{D42A27DB-BD31-4B8C-83A1-F6EECF244321}">
                <p14:modId xmlns:p14="http://schemas.microsoft.com/office/powerpoint/2010/main" val="807360369"/>
              </p:ext>
            </p:extLst>
          </p:nvPr>
        </p:nvGraphicFramePr>
        <p:xfrm>
          <a:off x="7982712" y="1574515"/>
          <a:ext cx="374904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457200" y="5286568"/>
            <a:ext cx="11338560" cy="1051560"/>
          </a:xfrm>
          <a:prstGeom prst="roundRect">
            <a:avLst>
              <a:gd name="adj" fmla="val 5217"/>
            </a:avLst>
          </a:prstGeom>
          <a:solidFill>
            <a:srgbClr val="F5F7FC"/>
          </a:solidFill>
          <a:ln w="12700">
            <a:solidFill>
              <a:srgbClr val="DCE3F5"/>
            </a:solidFill>
            <a:prstDash val="solid"/>
          </a:ln>
        </p:spPr>
      </p:sp>
      <p:sp>
        <p:nvSpPr>
          <p:cNvPr id="7" name="Text 3"/>
          <p:cNvSpPr/>
          <p:nvPr/>
        </p:nvSpPr>
        <p:spPr>
          <a:xfrm>
            <a:off x="822960" y="5506024"/>
            <a:ext cx="10807386" cy="757616"/>
          </a:xfrm>
          <a:prstGeom prst="rect">
            <a:avLst/>
          </a:prstGeom>
          <a:noFill/>
          <a:ln/>
        </p:spPr>
        <p:txBody>
          <a:bodyPr wrap="square" rtlCol="0" anchor="t"/>
          <a:lstStyle/>
          <a:p>
            <a:pPr marL="0" indent="0">
              <a:buNone/>
            </a:pPr>
            <a:r>
              <a:rPr lang="en-US" sz="1400" b="1" dirty="0">
                <a:solidFill>
                  <a:srgbClr val="0F766E"/>
                </a:solidFill>
                <a:latin typeface="Gill Sans MT" panose="020B0502020104020203" pitchFamily="34" charset="0"/>
                <a:ea typeface="Calibri" pitchFamily="34" charset="-122"/>
                <a:cs typeface="Calibri" pitchFamily="34" charset="-120"/>
              </a:rPr>
              <a:t>INSIGHT   </a:t>
            </a:r>
            <a:r>
              <a:rPr lang="en-US" sz="1400" dirty="0">
                <a:solidFill>
                  <a:srgbClr val="1A1A2E"/>
                </a:solidFill>
                <a:latin typeface="Gill Sans MT" panose="020B0502020104020203" pitchFamily="34" charset="0"/>
                <a:ea typeface="Calibri" pitchFamily="34" charset="-122"/>
                <a:cs typeface="Calibri" pitchFamily="34" charset="-120"/>
              </a:rPr>
              <a:t>Applicant and total-income distributions are nearly identical for good- and bad-credit applicants (both medians ~₦5-6k, same long right-tail outliers).  Average total income runs ₦6,583 for bad credit vs. ₦6,772 for good credit, this is ~3% gap that is not meaningfully discriminating.</a:t>
            </a:r>
            <a:endParaRPr lang="en-US" sz="1400" dirty="0">
              <a:latin typeface="Gill Sans MT" panose="020B0502020104020203" pitchFamily="34" charset="0"/>
            </a:endParaRPr>
          </a:p>
        </p:txBody>
      </p:sp>
      <p:sp>
        <p:nvSpPr>
          <p:cNvPr id="8" name="Text 4"/>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6B7280"/>
                </a:solidFill>
                <a:latin typeface="Gill Sans MT" panose="020B0502020104020203" pitchFamily="34" charset="0"/>
                <a:ea typeface="Calibri" pitchFamily="34" charset="-122"/>
                <a:cs typeface="Calibri" pitchFamily="34" charset="-120"/>
              </a:rPr>
              <a:t>Creditly Applicant Pool Analysis  |  LoanPay Risk &amp; Marketing</a:t>
            </a:r>
            <a:endParaRPr lang="en-US" sz="900" dirty="0">
              <a:latin typeface="Gill Sans MT" panose="020B0502020104020203" pitchFamily="34" charset="0"/>
            </a:endParaRPr>
          </a:p>
        </p:txBody>
      </p:sp>
      <p:sp>
        <p:nvSpPr>
          <p:cNvPr id="9" name="Text 5"/>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7280"/>
                </a:solidFill>
                <a:latin typeface="Gill Sans MT" panose="020B0502020104020203" pitchFamily="34" charset="0"/>
                <a:ea typeface="Calibri" pitchFamily="34" charset="-122"/>
                <a:cs typeface="Calibri" pitchFamily="34" charset="-120"/>
              </a:rPr>
              <a:t>7</a:t>
            </a:r>
            <a:endParaRPr lang="en-US" sz="900" dirty="0">
              <a:latin typeface="Gill Sans MT" panose="020B050202010402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320040"/>
          </a:xfrm>
          <a:prstGeom prst="rect">
            <a:avLst/>
          </a:prstGeom>
          <a:noFill/>
          <a:ln/>
        </p:spPr>
        <p:txBody>
          <a:bodyPr wrap="square" rtlCol="0" anchor="ctr"/>
          <a:lstStyle/>
          <a:p>
            <a:pPr marL="0" indent="0">
              <a:buNone/>
            </a:pPr>
            <a:r>
              <a:rPr lang="en-US" sz="1400" b="1" kern="0" spc="200" dirty="0">
                <a:solidFill>
                  <a:srgbClr val="0F766E"/>
                </a:solidFill>
                <a:latin typeface="Gill Sans MT" panose="020B0502020104020203" pitchFamily="34" charset="0"/>
                <a:ea typeface="Calibri" pitchFamily="34" charset="-122"/>
                <a:cs typeface="Calibri" pitchFamily="34" charset="-120"/>
              </a:rPr>
              <a:t>SECTION 4 · INCOME &amp; LOAN SIZING BEHAVIOR</a:t>
            </a:r>
            <a:endParaRPr lang="en-US" sz="1400" dirty="0">
              <a:latin typeface="Gill Sans MT" panose="020B0502020104020203" pitchFamily="34" charset="0"/>
            </a:endParaRPr>
          </a:p>
        </p:txBody>
      </p:sp>
      <p:sp>
        <p:nvSpPr>
          <p:cNvPr id="3" name="Text 1"/>
          <p:cNvSpPr/>
          <p:nvPr/>
        </p:nvSpPr>
        <p:spPr>
          <a:xfrm>
            <a:off x="457200" y="594360"/>
            <a:ext cx="11247120" cy="640080"/>
          </a:xfrm>
          <a:prstGeom prst="rect">
            <a:avLst/>
          </a:prstGeom>
          <a:noFill/>
          <a:ln/>
        </p:spPr>
        <p:txBody>
          <a:bodyPr wrap="square" rtlCol="0" anchor="ctr"/>
          <a:lstStyle/>
          <a:p>
            <a:pPr marL="0" indent="0" algn="l">
              <a:buNone/>
            </a:pPr>
            <a:r>
              <a:rPr lang="en-US" sz="2800" b="1" dirty="0">
                <a:solidFill>
                  <a:srgbClr val="1E2761"/>
                </a:solidFill>
                <a:latin typeface="Gill Sans MT" panose="020B0502020104020203" pitchFamily="34" charset="0"/>
                <a:ea typeface="Cambria" pitchFamily="34" charset="-122"/>
                <a:cs typeface="Cambria" pitchFamily="34" charset="-120"/>
              </a:rPr>
              <a:t>Loan Size and Term Are Standardized, Not Risk-Driven</a:t>
            </a:r>
            <a:endParaRPr lang="en-US" sz="2800" dirty="0">
              <a:latin typeface="Gill Sans MT" panose="020B0502020104020203" pitchFamily="34" charset="0"/>
            </a:endParaRPr>
          </a:p>
        </p:txBody>
      </p:sp>
      <p:pic>
        <p:nvPicPr>
          <p:cNvPr id="4" name="Image 0" descr="/home/claude/imgs/cell69_0.png"/>
          <p:cNvPicPr>
            <a:picLocks noChangeAspect="1"/>
          </p:cNvPicPr>
          <p:nvPr/>
        </p:nvPicPr>
        <p:blipFill>
          <a:blip r:embed="rId3"/>
          <a:stretch>
            <a:fillRect/>
          </a:stretch>
        </p:blipFill>
        <p:spPr>
          <a:xfrm>
            <a:off x="411480" y="1371600"/>
            <a:ext cx="5806440" cy="3657600"/>
          </a:xfrm>
          <a:prstGeom prst="rect">
            <a:avLst/>
          </a:prstGeom>
        </p:spPr>
      </p:pic>
      <p:graphicFrame>
        <p:nvGraphicFramePr>
          <p:cNvPr id="5" name="Chart 0"/>
          <p:cNvGraphicFramePr/>
          <p:nvPr>
            <p:extLst>
              <p:ext uri="{D42A27DB-BD31-4B8C-83A1-F6EECF244321}">
                <p14:modId xmlns:p14="http://schemas.microsoft.com/office/powerpoint/2010/main" val="2945271462"/>
              </p:ext>
            </p:extLst>
          </p:nvPr>
        </p:nvGraphicFramePr>
        <p:xfrm>
          <a:off x="6492240" y="1371600"/>
          <a:ext cx="5257800"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6492240" y="3566160"/>
            <a:ext cx="5257800" cy="1783080"/>
          </a:xfrm>
          <a:prstGeom prst="roundRect">
            <a:avLst>
              <a:gd name="adj" fmla="val 3077"/>
            </a:avLst>
          </a:prstGeom>
          <a:solidFill>
            <a:srgbClr val="F5F7FC"/>
          </a:solidFill>
          <a:ln w="12700">
            <a:solidFill>
              <a:srgbClr val="DCE3F5"/>
            </a:solidFill>
            <a:prstDash val="solid"/>
          </a:ln>
        </p:spPr>
      </p:sp>
      <p:sp>
        <p:nvSpPr>
          <p:cNvPr id="7" name="Text 3"/>
          <p:cNvSpPr/>
          <p:nvPr/>
        </p:nvSpPr>
        <p:spPr>
          <a:xfrm>
            <a:off x="6833856" y="3776472"/>
            <a:ext cx="4553712" cy="1353312"/>
          </a:xfrm>
          <a:prstGeom prst="rect">
            <a:avLst/>
          </a:prstGeom>
          <a:noFill/>
          <a:ln/>
        </p:spPr>
        <p:txBody>
          <a:bodyPr wrap="square" rtlCol="0" anchor="t"/>
          <a:lstStyle/>
          <a:p>
            <a:pPr marL="0" indent="0">
              <a:buNone/>
            </a:pPr>
            <a:r>
              <a:rPr lang="en-US" sz="1400" b="1" dirty="0">
                <a:solidFill>
                  <a:srgbClr val="0F766E"/>
                </a:solidFill>
                <a:latin typeface="Gill Sans MT" panose="020B0502020104020203" pitchFamily="34" charset="0"/>
                <a:ea typeface="Calibri" pitchFamily="34" charset="-122"/>
                <a:cs typeface="Calibri" pitchFamily="34" charset="-120"/>
              </a:rPr>
              <a:t>INSIGHT   </a:t>
            </a:r>
            <a:r>
              <a:rPr lang="en-US" sz="1400" dirty="0">
                <a:solidFill>
                  <a:srgbClr val="1A1A2E"/>
                </a:solidFill>
                <a:latin typeface="Gill Sans MT" panose="020B0502020104020203" pitchFamily="34" charset="0"/>
                <a:ea typeface="Calibri" pitchFamily="34" charset="-122"/>
                <a:cs typeface="Calibri" pitchFamily="34" charset="-120"/>
              </a:rPr>
              <a:t>Loan amount scales with income for both groups, and bad-credit applicants (red) are scattered uniformly across every income and loan-size band. No cluster where risk concentrates. Typical loan size (~₦140-143k) and term (360 days) are nearly identical for good vs. bad credit.</a:t>
            </a:r>
            <a:endParaRPr lang="en-US" sz="1400" dirty="0">
              <a:latin typeface="Gill Sans MT" panose="020B0502020104020203" pitchFamily="34" charset="0"/>
            </a:endParaRPr>
          </a:p>
        </p:txBody>
      </p:sp>
      <p:sp>
        <p:nvSpPr>
          <p:cNvPr id="8" name="Shape 4"/>
          <p:cNvSpPr/>
          <p:nvPr/>
        </p:nvSpPr>
        <p:spPr>
          <a:xfrm>
            <a:off x="457200" y="5440680"/>
            <a:ext cx="11274552" cy="960120"/>
          </a:xfrm>
          <a:prstGeom prst="roundRect">
            <a:avLst>
              <a:gd name="adj" fmla="val 7619"/>
            </a:avLst>
          </a:prstGeom>
          <a:solidFill>
            <a:srgbClr val="1E2761"/>
          </a:solidFill>
          <a:ln/>
        </p:spPr>
      </p:sp>
      <p:sp>
        <p:nvSpPr>
          <p:cNvPr id="9" name="Text 5"/>
          <p:cNvSpPr/>
          <p:nvPr/>
        </p:nvSpPr>
        <p:spPr>
          <a:xfrm>
            <a:off x="685800" y="5532120"/>
            <a:ext cx="2286000" cy="256032"/>
          </a:xfrm>
          <a:prstGeom prst="rect">
            <a:avLst/>
          </a:prstGeom>
          <a:noFill/>
          <a:ln/>
        </p:spPr>
        <p:txBody>
          <a:bodyPr wrap="square" rtlCol="0" anchor="ctr"/>
          <a:lstStyle/>
          <a:p>
            <a:pPr marL="0" indent="0">
              <a:buNone/>
            </a:pPr>
            <a:endParaRPr lang="en-US" sz="1050" dirty="0">
              <a:latin typeface="Gill Sans MT" panose="020B0502020104020203" pitchFamily="34" charset="0"/>
            </a:endParaRPr>
          </a:p>
        </p:txBody>
      </p:sp>
      <p:sp>
        <p:nvSpPr>
          <p:cNvPr id="10" name="Text 6"/>
          <p:cNvSpPr/>
          <p:nvPr/>
        </p:nvSpPr>
        <p:spPr>
          <a:xfrm>
            <a:off x="685800" y="5609844"/>
            <a:ext cx="10881360" cy="557784"/>
          </a:xfrm>
          <a:prstGeom prst="rect">
            <a:avLst/>
          </a:prstGeom>
          <a:noFill/>
          <a:ln/>
        </p:spPr>
        <p:txBody>
          <a:bodyPr wrap="square" rtlCol="0" anchor="t"/>
          <a:lstStyle/>
          <a:p>
            <a:pPr marL="0" indent="0" algn="l">
              <a:buNone/>
            </a:pPr>
            <a:r>
              <a:rPr lang="en-US" sz="1400" dirty="0">
                <a:solidFill>
                  <a:srgbClr val="FFFFFF"/>
                </a:solidFill>
                <a:latin typeface="Gill Sans MT" panose="020B0502020104020203" pitchFamily="34" charset="0"/>
                <a:ea typeface="Calibri" pitchFamily="34" charset="-122"/>
                <a:cs typeface="Calibri" pitchFamily="34" charset="-120"/>
              </a:rPr>
              <a:t>Income, loan amount, and term carry little risk signal in this pool. Underwriting should not lean on income thresholds or loan-size caps to screen risk. Pull in behavioral/bureau signals (repayment history, existing credit score) to sharpen the risk model.</a:t>
            </a:r>
            <a:endParaRPr lang="en-US" sz="1400" dirty="0">
              <a:latin typeface="Gill Sans MT" panose="020B0502020104020203" pitchFamily="34" charset="0"/>
            </a:endParaRPr>
          </a:p>
        </p:txBody>
      </p:sp>
      <p:sp>
        <p:nvSpPr>
          <p:cNvPr id="11" name="Text 7"/>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6B7280"/>
                </a:solidFill>
                <a:latin typeface="Gill Sans MT" panose="020B0502020104020203" pitchFamily="34" charset="0"/>
                <a:ea typeface="Calibri" pitchFamily="34" charset="-122"/>
                <a:cs typeface="Calibri" pitchFamily="34" charset="-120"/>
              </a:rPr>
              <a:t>Creditly Applicant Pool Analysis  |  LoanPay Risk &amp; Marketing</a:t>
            </a:r>
            <a:endParaRPr lang="en-US" sz="900" dirty="0">
              <a:latin typeface="Gill Sans MT" panose="020B0502020104020203" pitchFamily="34" charset="0"/>
            </a:endParaRPr>
          </a:p>
        </p:txBody>
      </p:sp>
      <p:sp>
        <p:nvSpPr>
          <p:cNvPr id="12" name="Text 8"/>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6B7280"/>
                </a:solidFill>
                <a:latin typeface="Gill Sans MT" panose="020B0502020104020203" pitchFamily="34" charset="0"/>
                <a:ea typeface="Calibri" pitchFamily="34" charset="-122"/>
                <a:cs typeface="Calibri" pitchFamily="34" charset="-120"/>
              </a:rPr>
              <a:t>8</a:t>
            </a:r>
            <a:endParaRPr lang="en-US" sz="900" dirty="0">
              <a:latin typeface="Gill Sans MT" panose="020B050202010402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41B4D"/>
          </a:solidFill>
          <a:ln/>
        </p:spPr>
      </p:sp>
      <p:sp>
        <p:nvSpPr>
          <p:cNvPr id="3" name="Text 1"/>
          <p:cNvSpPr/>
          <p:nvPr/>
        </p:nvSpPr>
        <p:spPr>
          <a:xfrm>
            <a:off x="457200" y="365760"/>
            <a:ext cx="7315200" cy="320040"/>
          </a:xfrm>
          <a:prstGeom prst="rect">
            <a:avLst/>
          </a:prstGeom>
          <a:noFill/>
          <a:ln/>
        </p:spPr>
        <p:txBody>
          <a:bodyPr wrap="square" rtlCol="0" anchor="ctr"/>
          <a:lstStyle/>
          <a:p>
            <a:pPr marL="0" indent="0">
              <a:buNone/>
            </a:pPr>
            <a:r>
              <a:rPr lang="en-US" sz="1600" b="1" kern="0" spc="200" dirty="0">
                <a:solidFill>
                  <a:srgbClr val="0F766E"/>
                </a:solidFill>
                <a:latin typeface="Gill Sans MT" panose="020B0502020104020203" pitchFamily="34" charset="0"/>
                <a:ea typeface="Calibri" pitchFamily="34" charset="-122"/>
                <a:cs typeface="Calibri" pitchFamily="34" charset="-120"/>
              </a:rPr>
              <a:t>SYNTHESIS</a:t>
            </a:r>
            <a:endParaRPr lang="en-US" sz="1600" dirty="0">
              <a:latin typeface="Gill Sans MT" panose="020B0502020104020203" pitchFamily="34" charset="0"/>
            </a:endParaRPr>
          </a:p>
        </p:txBody>
      </p:sp>
      <p:sp>
        <p:nvSpPr>
          <p:cNvPr id="4" name="Text 2"/>
          <p:cNvSpPr/>
          <p:nvPr/>
        </p:nvSpPr>
        <p:spPr>
          <a:xfrm>
            <a:off x="457200" y="658368"/>
            <a:ext cx="11247120" cy="685800"/>
          </a:xfrm>
          <a:prstGeom prst="rect">
            <a:avLst/>
          </a:prstGeom>
          <a:noFill/>
          <a:ln/>
        </p:spPr>
        <p:txBody>
          <a:bodyPr wrap="square" rtlCol="0" anchor="ctr"/>
          <a:lstStyle/>
          <a:p>
            <a:pPr marL="0" indent="0">
              <a:buNone/>
            </a:pPr>
            <a:r>
              <a:rPr lang="en-US" sz="2700" b="1" dirty="0">
                <a:solidFill>
                  <a:srgbClr val="FFFFFF"/>
                </a:solidFill>
                <a:latin typeface="Gill Sans MT" panose="020B0502020104020203" pitchFamily="34" charset="0"/>
                <a:ea typeface="Cambria" pitchFamily="34" charset="-122"/>
                <a:cs typeface="Cambria" pitchFamily="34" charset="-120"/>
              </a:rPr>
              <a:t>Who Did We Attract? A Healthy, Well-Spread Pool</a:t>
            </a:r>
            <a:endParaRPr lang="en-US" sz="2700" dirty="0">
              <a:latin typeface="Gill Sans MT" panose="020B0502020104020203" pitchFamily="34" charset="0"/>
            </a:endParaRPr>
          </a:p>
        </p:txBody>
      </p:sp>
      <p:sp>
        <p:nvSpPr>
          <p:cNvPr id="5" name="Text 3"/>
          <p:cNvSpPr/>
          <p:nvPr/>
        </p:nvSpPr>
        <p:spPr>
          <a:xfrm>
            <a:off x="457200" y="1508760"/>
            <a:ext cx="5486400" cy="320040"/>
          </a:xfrm>
          <a:prstGeom prst="rect">
            <a:avLst/>
          </a:prstGeom>
          <a:noFill/>
          <a:ln/>
        </p:spPr>
        <p:txBody>
          <a:bodyPr wrap="square" rtlCol="0" anchor="ctr"/>
          <a:lstStyle/>
          <a:p>
            <a:pPr marL="0" indent="0">
              <a:buNone/>
            </a:pPr>
            <a:r>
              <a:rPr lang="en-US" sz="1400" b="1" kern="0" spc="100" dirty="0">
                <a:solidFill>
                  <a:srgbClr val="CADCFC"/>
                </a:solidFill>
                <a:latin typeface="Gill Sans MT" panose="020B0502020104020203" pitchFamily="34" charset="0"/>
                <a:ea typeface="Calibri" pitchFamily="34" charset="-122"/>
                <a:cs typeface="Calibri" pitchFamily="34" charset="-120"/>
              </a:rPr>
              <a:t>KEY INSIGHTS</a:t>
            </a:r>
            <a:endParaRPr lang="en-US" sz="1400" dirty="0">
              <a:latin typeface="Gill Sans MT" panose="020B0502020104020203" pitchFamily="34" charset="0"/>
            </a:endParaRPr>
          </a:p>
        </p:txBody>
      </p:sp>
      <p:sp>
        <p:nvSpPr>
          <p:cNvPr id="6" name="Text 4"/>
          <p:cNvSpPr/>
          <p:nvPr/>
        </p:nvSpPr>
        <p:spPr>
          <a:xfrm>
            <a:off x="350521" y="2057400"/>
            <a:ext cx="5486400" cy="4096512"/>
          </a:xfrm>
          <a:prstGeom prst="rect">
            <a:avLst/>
          </a:prstGeom>
          <a:noFill/>
          <a:ln/>
        </p:spPr>
        <p:txBody>
          <a:bodyPr wrap="square" rtlCol="0" anchor="t"/>
          <a:lstStyle/>
          <a:p>
            <a:pPr marL="203200" indent="-203200">
              <a:lnSpc>
                <a:spcPct val="110000"/>
              </a:lnSpc>
              <a:spcAft>
                <a:spcPts val="1400"/>
              </a:spcAft>
              <a:buSzPct val="100000"/>
              <a:buChar char="▸"/>
            </a:pPr>
            <a:r>
              <a:rPr lang="en-US" sz="1600" dirty="0">
                <a:solidFill>
                  <a:srgbClr val="FFFFFF"/>
                </a:solidFill>
                <a:latin typeface="Gill Sans MT" panose="020B0502020104020203" pitchFamily="34" charset="0"/>
                <a:ea typeface="Calibri" pitchFamily="34" charset="-122"/>
                <a:cs typeface="Calibri" pitchFamily="34" charset="-120"/>
              </a:rPr>
              <a:t>Pool quality beat plan: 83.6% good credit vs. an 80% benchmark.</a:t>
            </a:r>
            <a:endParaRPr lang="en-US" sz="1600" dirty="0">
              <a:latin typeface="Gill Sans MT" panose="020B0502020104020203" pitchFamily="34" charset="0"/>
            </a:endParaRPr>
          </a:p>
          <a:p>
            <a:pPr marL="203200" indent="-203200">
              <a:lnSpc>
                <a:spcPct val="110000"/>
              </a:lnSpc>
              <a:spcAft>
                <a:spcPts val="1400"/>
              </a:spcAft>
              <a:buSzPct val="100000"/>
              <a:buChar char="▸"/>
            </a:pPr>
            <a:r>
              <a:rPr lang="en-US" sz="1600" dirty="0">
                <a:solidFill>
                  <a:srgbClr val="FFFFFF"/>
                </a:solidFill>
                <a:latin typeface="Gill Sans MT" panose="020B0502020104020203" pitchFamily="34" charset="0"/>
                <a:ea typeface="Calibri" pitchFamily="34" charset="-122"/>
                <a:cs typeface="Calibri" pitchFamily="34" charset="-120"/>
              </a:rPr>
              <a:t>Demographics mirror a lending pool where married, graduate, salaried applicants dominate.</a:t>
            </a:r>
            <a:endParaRPr lang="en-US" sz="1600" dirty="0">
              <a:latin typeface="Gill Sans MT" panose="020B0502020104020203" pitchFamily="34" charset="0"/>
            </a:endParaRPr>
          </a:p>
          <a:p>
            <a:pPr marL="203200" indent="-203200">
              <a:lnSpc>
                <a:spcPct val="110000"/>
              </a:lnSpc>
              <a:spcAft>
                <a:spcPts val="1400"/>
              </a:spcAft>
              <a:buSzPct val="100000"/>
              <a:buChar char="▸"/>
            </a:pPr>
            <a:r>
              <a:rPr lang="en-US" sz="1600" dirty="0">
                <a:solidFill>
                  <a:srgbClr val="FFFFFF"/>
                </a:solidFill>
                <a:latin typeface="Gill Sans MT" panose="020B0502020104020203" pitchFamily="34" charset="0"/>
                <a:ea typeface="Calibri" pitchFamily="34" charset="-122"/>
                <a:cs typeface="Calibri" pitchFamily="34" charset="-120"/>
              </a:rPr>
              <a:t>Only Not-Graduate (21%) and unidentified-gender (22%, small n) applicants skew above the 16.4% risk baseline.</a:t>
            </a:r>
            <a:endParaRPr lang="en-US" sz="1600" dirty="0">
              <a:latin typeface="Gill Sans MT" panose="020B0502020104020203" pitchFamily="34" charset="0"/>
            </a:endParaRPr>
          </a:p>
          <a:p>
            <a:pPr marL="203200" indent="-203200">
              <a:lnSpc>
                <a:spcPct val="110000"/>
              </a:lnSpc>
              <a:spcAft>
                <a:spcPts val="1400"/>
              </a:spcAft>
              <a:buSzPct val="100000"/>
              <a:buChar char="▸"/>
            </a:pPr>
            <a:r>
              <a:rPr lang="en-US" sz="1600" dirty="0">
                <a:solidFill>
                  <a:srgbClr val="FFFFFF"/>
                </a:solidFill>
                <a:latin typeface="Gill Sans MT" panose="020B0502020104020203" pitchFamily="34" charset="0"/>
                <a:ea typeface="Calibri" pitchFamily="34" charset="-122"/>
                <a:cs typeface="Calibri" pitchFamily="34" charset="-120"/>
              </a:rPr>
              <a:t>Geographic spread is broad and credit quality is consistent (82–84%) across Urban, Semiurban, and Rural.</a:t>
            </a:r>
            <a:endParaRPr lang="en-US" sz="1600" dirty="0">
              <a:latin typeface="Gill Sans MT" panose="020B0502020104020203" pitchFamily="34" charset="0"/>
            </a:endParaRPr>
          </a:p>
          <a:p>
            <a:pPr marL="203200" indent="-203200">
              <a:lnSpc>
                <a:spcPct val="110000"/>
              </a:lnSpc>
              <a:spcAft>
                <a:spcPts val="1400"/>
              </a:spcAft>
              <a:buSzPct val="100000"/>
              <a:buChar char="▸"/>
            </a:pPr>
            <a:r>
              <a:rPr lang="en-US" sz="1600" dirty="0">
                <a:solidFill>
                  <a:srgbClr val="FFFFFF"/>
                </a:solidFill>
                <a:latin typeface="Gill Sans MT" panose="020B0502020104020203" pitchFamily="34" charset="0"/>
                <a:ea typeface="Calibri" pitchFamily="34" charset="-122"/>
                <a:cs typeface="Calibri" pitchFamily="34" charset="-120"/>
              </a:rPr>
              <a:t>Income and loan size do not discriminate credit risk, Good and bad credit applicants look alike financially.</a:t>
            </a:r>
            <a:endParaRPr lang="en-US" sz="1600" dirty="0">
              <a:latin typeface="Gill Sans MT" panose="020B0502020104020203" pitchFamily="34" charset="0"/>
            </a:endParaRPr>
          </a:p>
        </p:txBody>
      </p:sp>
      <p:sp>
        <p:nvSpPr>
          <p:cNvPr id="7" name="Shape 5"/>
          <p:cNvSpPr/>
          <p:nvPr/>
        </p:nvSpPr>
        <p:spPr>
          <a:xfrm>
            <a:off x="6355080" y="1508760"/>
            <a:ext cx="5394960" cy="4892040"/>
          </a:xfrm>
          <a:prstGeom prst="roundRect">
            <a:avLst>
              <a:gd name="adj" fmla="val 1495"/>
            </a:avLst>
          </a:prstGeom>
          <a:solidFill>
            <a:srgbClr val="FFFFFF"/>
          </a:solidFill>
          <a:ln/>
        </p:spPr>
      </p:sp>
      <p:sp>
        <p:nvSpPr>
          <p:cNvPr id="8" name="Text 6"/>
          <p:cNvSpPr/>
          <p:nvPr/>
        </p:nvSpPr>
        <p:spPr>
          <a:xfrm>
            <a:off x="6629400" y="1737360"/>
            <a:ext cx="4846320" cy="320040"/>
          </a:xfrm>
          <a:prstGeom prst="rect">
            <a:avLst/>
          </a:prstGeom>
          <a:noFill/>
          <a:ln/>
        </p:spPr>
        <p:txBody>
          <a:bodyPr wrap="square" rtlCol="0" anchor="ctr"/>
          <a:lstStyle/>
          <a:p>
            <a:pPr marL="0" indent="0">
              <a:buNone/>
            </a:pPr>
            <a:r>
              <a:rPr lang="en-US" sz="1400" b="1" kern="0" spc="100" dirty="0">
                <a:solidFill>
                  <a:srgbClr val="1E2761"/>
                </a:solidFill>
                <a:latin typeface="Gill Sans MT" panose="020B0502020104020203" pitchFamily="34" charset="0"/>
                <a:ea typeface="Calibri" pitchFamily="34" charset="-122"/>
                <a:cs typeface="Calibri" pitchFamily="34" charset="-120"/>
              </a:rPr>
              <a:t>RECOMMENDED BUSINESS DECISIONS</a:t>
            </a:r>
            <a:endParaRPr lang="en-US" sz="1400" dirty="0">
              <a:latin typeface="Gill Sans MT" panose="020B0502020104020203" pitchFamily="34" charset="0"/>
            </a:endParaRPr>
          </a:p>
        </p:txBody>
      </p:sp>
      <p:sp>
        <p:nvSpPr>
          <p:cNvPr id="9" name="Shape 7"/>
          <p:cNvSpPr/>
          <p:nvPr/>
        </p:nvSpPr>
        <p:spPr>
          <a:xfrm>
            <a:off x="6629400" y="2148840"/>
            <a:ext cx="329184" cy="329184"/>
          </a:xfrm>
          <a:prstGeom prst="ellipse">
            <a:avLst/>
          </a:prstGeom>
          <a:solidFill>
            <a:srgbClr val="0F766E"/>
          </a:solidFill>
          <a:ln/>
        </p:spPr>
      </p:sp>
      <p:sp>
        <p:nvSpPr>
          <p:cNvPr id="10" name="Text 8"/>
          <p:cNvSpPr/>
          <p:nvPr/>
        </p:nvSpPr>
        <p:spPr>
          <a:xfrm>
            <a:off x="6629400" y="2148840"/>
            <a:ext cx="329184" cy="329184"/>
          </a:xfrm>
          <a:prstGeom prst="rect">
            <a:avLst/>
          </a:prstGeom>
          <a:noFill/>
          <a:ln/>
        </p:spPr>
        <p:txBody>
          <a:bodyPr wrap="square" rtlCol="0" anchor="ctr"/>
          <a:lstStyle/>
          <a:p>
            <a:pPr marL="0" indent="0" algn="ctr">
              <a:buNone/>
            </a:pPr>
            <a:r>
              <a:rPr lang="en-US" sz="1300" b="1" dirty="0">
                <a:solidFill>
                  <a:srgbClr val="FFFFFF"/>
                </a:solidFill>
                <a:latin typeface="Gill Sans MT" panose="020B0502020104020203" pitchFamily="34" charset="0"/>
                <a:ea typeface="Calibri" pitchFamily="34" charset="-122"/>
                <a:cs typeface="Calibri" pitchFamily="34" charset="-120"/>
              </a:rPr>
              <a:t>1</a:t>
            </a:r>
            <a:endParaRPr lang="en-US" sz="1300" dirty="0">
              <a:latin typeface="Gill Sans MT" panose="020B0502020104020203" pitchFamily="34" charset="0"/>
            </a:endParaRPr>
          </a:p>
        </p:txBody>
      </p:sp>
      <p:sp>
        <p:nvSpPr>
          <p:cNvPr id="11" name="Text 9"/>
          <p:cNvSpPr/>
          <p:nvPr/>
        </p:nvSpPr>
        <p:spPr>
          <a:xfrm>
            <a:off x="7132320" y="2093976"/>
            <a:ext cx="4434840" cy="868680"/>
          </a:xfrm>
          <a:prstGeom prst="rect">
            <a:avLst/>
          </a:prstGeom>
          <a:noFill/>
          <a:ln/>
        </p:spPr>
        <p:txBody>
          <a:bodyPr wrap="square" rtlCol="0" anchor="t"/>
          <a:lstStyle/>
          <a:p>
            <a:pPr marL="0" indent="0">
              <a:lnSpc>
                <a:spcPct val="108000"/>
              </a:lnSpc>
              <a:buNone/>
            </a:pPr>
            <a:r>
              <a:rPr lang="en-US" sz="1400" b="1" dirty="0">
                <a:solidFill>
                  <a:srgbClr val="1E2761"/>
                </a:solidFill>
                <a:latin typeface="Gill Sans MT" panose="020B0502020104020203" pitchFamily="34" charset="0"/>
                <a:ea typeface="Calibri" pitchFamily="34" charset="-122"/>
                <a:cs typeface="Calibri" pitchFamily="34" charset="-120"/>
              </a:rPr>
              <a:t>Scale the campaign.  </a:t>
            </a:r>
            <a:r>
              <a:rPr lang="en-US" sz="1400" dirty="0">
                <a:solidFill>
                  <a:srgbClr val="1A1A2E"/>
                </a:solidFill>
                <a:latin typeface="Gill Sans MT" panose="020B0502020104020203" pitchFamily="34" charset="0"/>
                <a:ea typeface="Calibri" pitchFamily="34" charset="-122"/>
                <a:cs typeface="Calibri" pitchFamily="34" charset="-120"/>
              </a:rPr>
              <a:t>Pool quality clears the risk benchmark.</a:t>
            </a:r>
            <a:r>
              <a:rPr lang="en-US" sz="1400" b="1" dirty="0">
                <a:solidFill>
                  <a:srgbClr val="1A1A2E"/>
                </a:solidFill>
                <a:latin typeface="Gill Sans MT" panose="020B0502020104020203" pitchFamily="34" charset="0"/>
                <a:ea typeface="Calibri" pitchFamily="34" charset="-122"/>
                <a:cs typeface="Calibri" pitchFamily="34" charset="-120"/>
              </a:rPr>
              <a:t> </a:t>
            </a:r>
            <a:r>
              <a:rPr lang="en-US" sz="1400" b="1" dirty="0" err="1">
                <a:solidFill>
                  <a:srgbClr val="1A1A2E"/>
                </a:solidFill>
                <a:latin typeface="Gill Sans MT" panose="020B0502020104020203" pitchFamily="34" charset="0"/>
                <a:ea typeface="Calibri" pitchFamily="34" charset="-122"/>
                <a:cs typeface="Calibri" pitchFamily="34" charset="-120"/>
              </a:rPr>
              <a:t>LoanPay</a:t>
            </a:r>
            <a:r>
              <a:rPr lang="en-US" sz="1400" b="1" dirty="0">
                <a:solidFill>
                  <a:srgbClr val="1A1A2E"/>
                </a:solidFill>
                <a:latin typeface="Gill Sans MT" panose="020B0502020104020203" pitchFamily="34" charset="0"/>
                <a:ea typeface="Calibri" pitchFamily="34" charset="-122"/>
                <a:cs typeface="Calibri" pitchFamily="34" charset="-120"/>
              </a:rPr>
              <a:t> </a:t>
            </a:r>
            <a:r>
              <a:rPr lang="en-US" sz="1400" dirty="0">
                <a:solidFill>
                  <a:srgbClr val="1A1A2E"/>
                </a:solidFill>
                <a:latin typeface="Gill Sans MT" panose="020B0502020104020203" pitchFamily="34" charset="0"/>
                <a:ea typeface="Calibri" pitchFamily="34" charset="-122"/>
                <a:cs typeface="Calibri" pitchFamily="34" charset="-120"/>
              </a:rPr>
              <a:t>should continue current marketing campaign</a:t>
            </a:r>
            <a:endParaRPr lang="en-US" sz="1300" dirty="0">
              <a:latin typeface="Gill Sans MT" panose="020B0502020104020203" pitchFamily="34" charset="0"/>
            </a:endParaRPr>
          </a:p>
        </p:txBody>
      </p:sp>
      <p:sp>
        <p:nvSpPr>
          <p:cNvPr id="12" name="Shape 10"/>
          <p:cNvSpPr/>
          <p:nvPr/>
        </p:nvSpPr>
        <p:spPr>
          <a:xfrm>
            <a:off x="6629400" y="3182112"/>
            <a:ext cx="329184" cy="329184"/>
          </a:xfrm>
          <a:prstGeom prst="ellipse">
            <a:avLst/>
          </a:prstGeom>
          <a:solidFill>
            <a:srgbClr val="0F766E"/>
          </a:solidFill>
          <a:ln/>
        </p:spPr>
      </p:sp>
      <p:sp>
        <p:nvSpPr>
          <p:cNvPr id="13" name="Text 11"/>
          <p:cNvSpPr/>
          <p:nvPr/>
        </p:nvSpPr>
        <p:spPr>
          <a:xfrm>
            <a:off x="6629400" y="3182112"/>
            <a:ext cx="329184" cy="329184"/>
          </a:xfrm>
          <a:prstGeom prst="rect">
            <a:avLst/>
          </a:prstGeom>
          <a:noFill/>
          <a:ln/>
        </p:spPr>
        <p:txBody>
          <a:bodyPr wrap="square" rtlCol="0" anchor="ctr"/>
          <a:lstStyle/>
          <a:p>
            <a:pPr marL="0" indent="0" algn="ctr">
              <a:buNone/>
            </a:pPr>
            <a:r>
              <a:rPr lang="en-US" sz="1300" b="1" dirty="0">
                <a:solidFill>
                  <a:srgbClr val="FFFFFF"/>
                </a:solidFill>
                <a:latin typeface="Gill Sans MT" panose="020B0502020104020203" pitchFamily="34" charset="0"/>
                <a:ea typeface="Calibri" pitchFamily="34" charset="-122"/>
                <a:cs typeface="Calibri" pitchFamily="34" charset="-120"/>
              </a:rPr>
              <a:t>2</a:t>
            </a:r>
            <a:endParaRPr lang="en-US" sz="1300" dirty="0">
              <a:latin typeface="Gill Sans MT" panose="020B0502020104020203" pitchFamily="34" charset="0"/>
            </a:endParaRPr>
          </a:p>
        </p:txBody>
      </p:sp>
      <p:sp>
        <p:nvSpPr>
          <p:cNvPr id="14" name="Text 12"/>
          <p:cNvSpPr/>
          <p:nvPr/>
        </p:nvSpPr>
        <p:spPr>
          <a:xfrm>
            <a:off x="7132320" y="3127248"/>
            <a:ext cx="4434840" cy="868680"/>
          </a:xfrm>
          <a:prstGeom prst="rect">
            <a:avLst/>
          </a:prstGeom>
          <a:noFill/>
          <a:ln/>
        </p:spPr>
        <p:txBody>
          <a:bodyPr wrap="square" rtlCol="0" anchor="t"/>
          <a:lstStyle/>
          <a:p>
            <a:pPr marL="0" indent="0">
              <a:lnSpc>
                <a:spcPct val="108000"/>
              </a:lnSpc>
              <a:buNone/>
            </a:pPr>
            <a:r>
              <a:rPr lang="en-US" sz="1400" b="1" dirty="0">
                <a:solidFill>
                  <a:srgbClr val="1E2761"/>
                </a:solidFill>
                <a:latin typeface="Gill Sans MT" panose="020B0502020104020203" pitchFamily="34" charset="0"/>
                <a:ea typeface="Calibri" pitchFamily="34" charset="-122"/>
                <a:cs typeface="Calibri" pitchFamily="34" charset="-120"/>
              </a:rPr>
              <a:t>Tighten intake on two segments.  </a:t>
            </a:r>
            <a:r>
              <a:rPr lang="en-US" sz="1400" dirty="0">
                <a:solidFill>
                  <a:srgbClr val="1A1A2E"/>
                </a:solidFill>
                <a:latin typeface="Gill Sans MT" panose="020B0502020104020203" pitchFamily="34" charset="0"/>
                <a:ea typeface="Calibri" pitchFamily="34" charset="-122"/>
                <a:cs typeface="Calibri" pitchFamily="34" charset="-120"/>
              </a:rPr>
              <a:t>Add light-touch verification for Not-Graduate applicants and require gender capture at intake to close the “Unknown” gap.</a:t>
            </a:r>
            <a:endParaRPr lang="en-US" sz="1400" dirty="0">
              <a:latin typeface="Gill Sans MT" panose="020B0502020104020203" pitchFamily="34" charset="0"/>
            </a:endParaRPr>
          </a:p>
        </p:txBody>
      </p:sp>
      <p:sp>
        <p:nvSpPr>
          <p:cNvPr id="15" name="Shape 13"/>
          <p:cNvSpPr/>
          <p:nvPr/>
        </p:nvSpPr>
        <p:spPr>
          <a:xfrm>
            <a:off x="6629400" y="4215384"/>
            <a:ext cx="329184" cy="329184"/>
          </a:xfrm>
          <a:prstGeom prst="ellipse">
            <a:avLst/>
          </a:prstGeom>
          <a:solidFill>
            <a:srgbClr val="0F766E"/>
          </a:solidFill>
          <a:ln/>
        </p:spPr>
      </p:sp>
      <p:sp>
        <p:nvSpPr>
          <p:cNvPr id="16" name="Text 14"/>
          <p:cNvSpPr/>
          <p:nvPr/>
        </p:nvSpPr>
        <p:spPr>
          <a:xfrm>
            <a:off x="6629400" y="4215384"/>
            <a:ext cx="329184" cy="329184"/>
          </a:xfrm>
          <a:prstGeom prst="rect">
            <a:avLst/>
          </a:prstGeom>
          <a:noFill/>
          <a:ln/>
        </p:spPr>
        <p:txBody>
          <a:bodyPr wrap="square" rtlCol="0" anchor="ctr"/>
          <a:lstStyle/>
          <a:p>
            <a:pPr marL="0" indent="0" algn="ctr">
              <a:buNone/>
            </a:pPr>
            <a:r>
              <a:rPr lang="en-US" sz="1300" b="1" dirty="0">
                <a:solidFill>
                  <a:srgbClr val="FFFFFF"/>
                </a:solidFill>
                <a:latin typeface="Gill Sans MT" panose="020B0502020104020203" pitchFamily="34" charset="0"/>
                <a:ea typeface="Calibri" pitchFamily="34" charset="-122"/>
                <a:cs typeface="Calibri" pitchFamily="34" charset="-120"/>
              </a:rPr>
              <a:t>3</a:t>
            </a:r>
            <a:endParaRPr lang="en-US" sz="1300" dirty="0">
              <a:latin typeface="Gill Sans MT" panose="020B0502020104020203" pitchFamily="34" charset="0"/>
            </a:endParaRPr>
          </a:p>
        </p:txBody>
      </p:sp>
      <p:sp>
        <p:nvSpPr>
          <p:cNvPr id="17" name="Text 15"/>
          <p:cNvSpPr/>
          <p:nvPr/>
        </p:nvSpPr>
        <p:spPr>
          <a:xfrm>
            <a:off x="7132320" y="4160520"/>
            <a:ext cx="4434840" cy="868680"/>
          </a:xfrm>
          <a:prstGeom prst="rect">
            <a:avLst/>
          </a:prstGeom>
          <a:noFill/>
          <a:ln/>
        </p:spPr>
        <p:txBody>
          <a:bodyPr wrap="square" rtlCol="0" anchor="t"/>
          <a:lstStyle/>
          <a:p>
            <a:pPr marL="0" indent="0">
              <a:lnSpc>
                <a:spcPct val="108000"/>
              </a:lnSpc>
              <a:buNone/>
            </a:pPr>
            <a:r>
              <a:rPr lang="en-US" sz="1400" b="1" dirty="0">
                <a:solidFill>
                  <a:srgbClr val="1E2761"/>
                </a:solidFill>
                <a:latin typeface="Gill Sans MT" panose="020B0502020104020203" pitchFamily="34" charset="0"/>
                <a:ea typeface="Calibri" pitchFamily="34" charset="-122"/>
                <a:cs typeface="Calibri" pitchFamily="34" charset="-120"/>
              </a:rPr>
              <a:t>Keep geographic targeting open.  </a:t>
            </a:r>
            <a:r>
              <a:rPr lang="en-US" sz="1400" dirty="0">
                <a:solidFill>
                  <a:srgbClr val="1A1A2E"/>
                </a:solidFill>
                <a:latin typeface="Gill Sans MT" panose="020B0502020104020203" pitchFamily="34" charset="0"/>
                <a:ea typeface="Calibri" pitchFamily="34" charset="-122"/>
                <a:cs typeface="Calibri" pitchFamily="34" charset="-120"/>
              </a:rPr>
              <a:t>No region is riskier enough to warrant exclusion or a regional pricing overlay.</a:t>
            </a:r>
            <a:endParaRPr lang="en-US" sz="1400" dirty="0">
              <a:latin typeface="Gill Sans MT" panose="020B0502020104020203" pitchFamily="34" charset="0"/>
            </a:endParaRPr>
          </a:p>
        </p:txBody>
      </p:sp>
      <p:sp>
        <p:nvSpPr>
          <p:cNvPr id="18" name="Shape 16"/>
          <p:cNvSpPr/>
          <p:nvPr/>
        </p:nvSpPr>
        <p:spPr>
          <a:xfrm>
            <a:off x="6629400" y="5248656"/>
            <a:ext cx="329184" cy="329184"/>
          </a:xfrm>
          <a:prstGeom prst="ellipse">
            <a:avLst/>
          </a:prstGeom>
          <a:solidFill>
            <a:srgbClr val="0F766E"/>
          </a:solidFill>
          <a:ln/>
        </p:spPr>
      </p:sp>
      <p:sp>
        <p:nvSpPr>
          <p:cNvPr id="19" name="Text 17"/>
          <p:cNvSpPr/>
          <p:nvPr/>
        </p:nvSpPr>
        <p:spPr>
          <a:xfrm>
            <a:off x="6629400" y="5248656"/>
            <a:ext cx="329184" cy="329184"/>
          </a:xfrm>
          <a:prstGeom prst="rect">
            <a:avLst/>
          </a:prstGeom>
          <a:noFill/>
          <a:ln/>
        </p:spPr>
        <p:txBody>
          <a:bodyPr wrap="square" rtlCol="0" anchor="ctr"/>
          <a:lstStyle/>
          <a:p>
            <a:pPr marL="0" indent="0" algn="ctr">
              <a:buNone/>
            </a:pPr>
            <a:r>
              <a:rPr lang="en-US" sz="1300" b="1" dirty="0">
                <a:solidFill>
                  <a:srgbClr val="FFFFFF"/>
                </a:solidFill>
                <a:latin typeface="Gill Sans MT" panose="020B0502020104020203" pitchFamily="34" charset="0"/>
                <a:ea typeface="Calibri" pitchFamily="34" charset="-122"/>
                <a:cs typeface="Calibri" pitchFamily="34" charset="-120"/>
              </a:rPr>
              <a:t>4</a:t>
            </a:r>
            <a:endParaRPr lang="en-US" sz="1300" dirty="0">
              <a:latin typeface="Gill Sans MT" panose="020B0502020104020203" pitchFamily="34" charset="0"/>
            </a:endParaRPr>
          </a:p>
        </p:txBody>
      </p:sp>
      <p:sp>
        <p:nvSpPr>
          <p:cNvPr id="20" name="Text 18"/>
          <p:cNvSpPr/>
          <p:nvPr/>
        </p:nvSpPr>
        <p:spPr>
          <a:xfrm>
            <a:off x="7132320" y="5193792"/>
            <a:ext cx="4434840" cy="868680"/>
          </a:xfrm>
          <a:prstGeom prst="rect">
            <a:avLst/>
          </a:prstGeom>
          <a:noFill/>
          <a:ln/>
        </p:spPr>
        <p:txBody>
          <a:bodyPr wrap="square" rtlCol="0" anchor="t"/>
          <a:lstStyle/>
          <a:p>
            <a:pPr marL="0" indent="0">
              <a:lnSpc>
                <a:spcPct val="108000"/>
              </a:lnSpc>
              <a:buNone/>
            </a:pPr>
            <a:r>
              <a:rPr lang="en-US" sz="1400" b="1" dirty="0">
                <a:solidFill>
                  <a:srgbClr val="1E2761"/>
                </a:solidFill>
                <a:latin typeface="Gill Sans MT" panose="020B0502020104020203" pitchFamily="34" charset="0"/>
                <a:ea typeface="Calibri" pitchFamily="34" charset="-122"/>
                <a:cs typeface="Calibri" pitchFamily="34" charset="-120"/>
              </a:rPr>
              <a:t>Don't underwrite on income or loan size alone.  </a:t>
            </a:r>
            <a:r>
              <a:rPr lang="en-US" sz="1400" dirty="0">
                <a:solidFill>
                  <a:srgbClr val="1A1A2E"/>
                </a:solidFill>
                <a:latin typeface="Gill Sans MT" panose="020B0502020104020203" pitchFamily="34" charset="0"/>
                <a:ea typeface="Calibri" pitchFamily="34" charset="-122"/>
                <a:cs typeface="Calibri" pitchFamily="34" charset="-120"/>
              </a:rPr>
              <a:t>Bring in bureau/repayment-history data. The current pool shows income isn't a risk signal.</a:t>
            </a:r>
            <a:endParaRPr lang="en-US" sz="1400" dirty="0">
              <a:latin typeface="Gill Sans MT" panose="020B0502020104020203" pitchFamily="34" charset="0"/>
            </a:endParaRPr>
          </a:p>
        </p:txBody>
      </p:sp>
      <p:sp>
        <p:nvSpPr>
          <p:cNvPr id="21" name="Text 19"/>
          <p:cNvSpPr/>
          <p:nvPr/>
        </p:nvSpPr>
        <p:spPr>
          <a:xfrm>
            <a:off x="457200" y="6492240"/>
            <a:ext cx="7315200" cy="274320"/>
          </a:xfrm>
          <a:prstGeom prst="rect">
            <a:avLst/>
          </a:prstGeom>
          <a:noFill/>
          <a:ln/>
        </p:spPr>
        <p:txBody>
          <a:bodyPr wrap="square" rtlCol="0" anchor="ctr"/>
          <a:lstStyle/>
          <a:p>
            <a:pPr marL="0" indent="0" algn="l">
              <a:buNone/>
            </a:pPr>
            <a:r>
              <a:rPr lang="en-US" sz="900" dirty="0">
                <a:solidFill>
                  <a:srgbClr val="AEB8E0"/>
                </a:solidFill>
                <a:latin typeface="Gill Sans MT" panose="020B0502020104020203" pitchFamily="34" charset="0"/>
                <a:ea typeface="Calibri" pitchFamily="34" charset="-122"/>
                <a:cs typeface="Calibri" pitchFamily="34" charset="-120"/>
              </a:rPr>
              <a:t>Creditly Applicant Pool Analysis  |  LoanPay Risk &amp; Marketing</a:t>
            </a:r>
            <a:endParaRPr lang="en-US" sz="900" dirty="0">
              <a:latin typeface="Gill Sans MT" panose="020B0502020104020203" pitchFamily="34" charset="0"/>
            </a:endParaRPr>
          </a:p>
        </p:txBody>
      </p:sp>
      <p:sp>
        <p:nvSpPr>
          <p:cNvPr id="22" name="Text 20"/>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AEB8E0"/>
                </a:solidFill>
                <a:latin typeface="Gill Sans MT" panose="020B0502020104020203" pitchFamily="34" charset="0"/>
                <a:ea typeface="Calibri" pitchFamily="34" charset="-122"/>
                <a:cs typeface="Calibri" pitchFamily="34" charset="-120"/>
              </a:rPr>
              <a:t>9</a:t>
            </a:r>
            <a:endParaRPr lang="en-US" sz="900" dirty="0">
              <a:latin typeface="Gill Sans MT" panose="020B05020201040202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970</Words>
  <Application>Microsoft Office PowerPoint</Application>
  <PresentationFormat>Widescreen</PresentationFormat>
  <Paragraphs>100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Obinna Muonanu</cp:lastModifiedBy>
  <cp:revision>2</cp:revision>
  <dcterms:created xsi:type="dcterms:W3CDTF">2026-09-16T11:58:38Z</dcterms:created>
  <dcterms:modified xsi:type="dcterms:W3CDTF">2026-09-16T12:53:33Z</dcterms:modified>
</cp:coreProperties>
</file>